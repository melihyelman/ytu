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Nourd" pitchFamily="2" charset="77"/>
      <p:regular r:id="rId15"/>
    </p:embeddedFont>
    <p:embeddedFont>
      <p:font typeface="Nourd Bold" pitchFamily="2" charset="77"/>
      <p:regular r:id="rId16"/>
      <p:bold r:id="rId17"/>
    </p:embeddedFont>
    <p:embeddedFont>
      <p:font typeface="Nourd Semi-Bold" pitchFamily="2" charset="7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9" autoAdjust="0"/>
  </p:normalViewPr>
  <p:slideViewPr>
    <p:cSldViewPr>
      <p:cViewPr varScale="1">
        <p:scale>
          <a:sx n="98" d="100"/>
          <a:sy n="98" d="100"/>
        </p:scale>
        <p:origin x="22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401786" y="2467783"/>
            <a:ext cx="5545424" cy="5658596"/>
          </a:xfrm>
          <a:custGeom>
            <a:avLst/>
            <a:gdLst/>
            <a:ahLst/>
            <a:cxnLst/>
            <a:rect l="l" t="t" r="r" b="b"/>
            <a:pathLst>
              <a:path w="5545424" h="5658596">
                <a:moveTo>
                  <a:pt x="0" y="0"/>
                </a:moveTo>
                <a:lnTo>
                  <a:pt x="5545424" y="0"/>
                </a:lnTo>
                <a:lnTo>
                  <a:pt x="5545424" y="5658596"/>
                </a:lnTo>
                <a:lnTo>
                  <a:pt x="0" y="565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AutoShape 3"/>
          <p:cNvSpPr/>
          <p:nvPr/>
        </p:nvSpPr>
        <p:spPr>
          <a:xfrm>
            <a:off x="10657400" y="1202667"/>
            <a:ext cx="7630600" cy="9084333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 rot="2358333">
            <a:off x="11969795" y="6796590"/>
            <a:ext cx="909316" cy="801852"/>
          </a:xfrm>
          <a:custGeom>
            <a:avLst/>
            <a:gdLst/>
            <a:ahLst/>
            <a:cxnLst/>
            <a:rect l="l" t="t" r="r" b="b"/>
            <a:pathLst>
              <a:path w="909316" h="801852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 rot="2358333">
            <a:off x="11969795" y="8259140"/>
            <a:ext cx="909316" cy="801852"/>
          </a:xfrm>
          <a:custGeom>
            <a:avLst/>
            <a:gdLst/>
            <a:ahLst/>
            <a:cxnLst/>
            <a:rect l="l" t="t" r="r" b="b"/>
            <a:pathLst>
              <a:path w="909316" h="801852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AutoShape 6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7" name="AutoShape 7"/>
          <p:cNvSpPr/>
          <p:nvPr/>
        </p:nvSpPr>
        <p:spPr>
          <a:xfrm rot="-5401802">
            <a:off x="6122382" y="5740066"/>
            <a:ext cx="9084323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8" name="Freeform 8"/>
          <p:cNvSpPr/>
          <p:nvPr/>
        </p:nvSpPr>
        <p:spPr>
          <a:xfrm rot="2358333">
            <a:off x="11969795" y="5333422"/>
            <a:ext cx="909316" cy="801852"/>
          </a:xfrm>
          <a:custGeom>
            <a:avLst/>
            <a:gdLst/>
            <a:ahLst/>
            <a:cxnLst/>
            <a:rect l="l" t="t" r="r" b="b"/>
            <a:pathLst>
              <a:path w="909316" h="801852">
                <a:moveTo>
                  <a:pt x="0" y="0"/>
                </a:moveTo>
                <a:lnTo>
                  <a:pt x="909317" y="0"/>
                </a:lnTo>
                <a:lnTo>
                  <a:pt x="909317" y="801852"/>
                </a:lnTo>
                <a:lnTo>
                  <a:pt x="0" y="8018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9" name="Freeform 9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0" name="TextBox 10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9100" y="2452941"/>
            <a:ext cx="8115300" cy="601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10"/>
              </a:lnSpc>
            </a:pPr>
            <a:r>
              <a:rPr lang="en-US" sz="9925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Şarkı Sözlerinden Duygu Analizi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358241" y="6975330"/>
            <a:ext cx="3768479" cy="820420"/>
            <a:chOff x="0" y="0"/>
            <a:chExt cx="5024639" cy="109389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546735"/>
              <a:ext cx="502463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21011702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2463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b="1">
                  <a:solidFill>
                    <a:srgbClr val="2C2C2C"/>
                  </a:solidFill>
                  <a:latin typeface="Nourd Bold"/>
                  <a:ea typeface="Nourd Bold"/>
                  <a:cs typeface="Nourd Bold"/>
                  <a:sym typeface="Nourd Bold"/>
                </a:rPr>
                <a:t>Melih Yelman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58241" y="8425116"/>
            <a:ext cx="37684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Öğr. Gör. Dr. Ayşe Öcal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358241" y="5512162"/>
            <a:ext cx="3768479" cy="820420"/>
            <a:chOff x="0" y="0"/>
            <a:chExt cx="5024639" cy="109389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546735"/>
              <a:ext cx="502463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21011022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502463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 b="1">
                  <a:solidFill>
                    <a:srgbClr val="2C2C2C"/>
                  </a:solidFill>
                  <a:latin typeface="Nourd Bold"/>
                  <a:ea typeface="Nourd Bold"/>
                  <a:cs typeface="Nourd Bold"/>
                  <a:sym typeface="Nourd Bold"/>
                </a:rPr>
                <a:t>Tarık Taşkın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301301" cy="120266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TR"/>
          </a:p>
        </p:txBody>
      </p:sp>
      <p:sp>
        <p:nvSpPr>
          <p:cNvPr id="3" name="AutoShape 3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1028700" y="2217651"/>
            <a:ext cx="840899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 u="none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Giriş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1549" y="5095875"/>
            <a:ext cx="720937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Müzik, insanların duygularını ifade etmede, paylaşmada ve yorumlada tarih boyunca güçlü bir araç olmuştur.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81549" y="6655446"/>
            <a:ext cx="720937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Temel motivasyonumuz, müziğin duygusal etkisinin dinleyici ve popülerite üzerindeki rolünü nicel verilerle ortaya koymaktadır.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9248775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8" name="Group 8"/>
          <p:cNvGrpSpPr/>
          <p:nvPr/>
        </p:nvGrpSpPr>
        <p:grpSpPr>
          <a:xfrm>
            <a:off x="10671687" y="1202667"/>
            <a:ext cx="7616313" cy="8046108"/>
            <a:chOff x="0" y="0"/>
            <a:chExt cx="10155083" cy="10728143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b="29571"/>
            <a:stretch>
              <a:fillRect/>
            </a:stretch>
          </p:blipFill>
          <p:spPr>
            <a:xfrm>
              <a:off x="0" y="0"/>
              <a:ext cx="10155083" cy="10728143"/>
            </a:xfrm>
            <a:prstGeom prst="rect">
              <a:avLst/>
            </a:prstGeom>
          </p:spPr>
        </p:pic>
      </p:grpSp>
      <p:sp>
        <p:nvSpPr>
          <p:cNvPr id="10" name="Freeform 10"/>
          <p:cNvSpPr/>
          <p:nvPr/>
        </p:nvSpPr>
        <p:spPr>
          <a:xfrm rot="2700000">
            <a:off x="1177090" y="5181834"/>
            <a:ext cx="763910" cy="736132"/>
          </a:xfrm>
          <a:custGeom>
            <a:avLst/>
            <a:gdLst/>
            <a:ahLst/>
            <a:cxnLst/>
            <a:rect l="l" t="t" r="r" b="b"/>
            <a:pathLst>
              <a:path w="763910" h="736132">
                <a:moveTo>
                  <a:pt x="0" y="0"/>
                </a:moveTo>
                <a:lnTo>
                  <a:pt x="763910" y="0"/>
                </a:lnTo>
                <a:lnTo>
                  <a:pt x="763910" y="736132"/>
                </a:lnTo>
                <a:lnTo>
                  <a:pt x="0" y="7361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1" name="Freeform 11"/>
          <p:cNvSpPr/>
          <p:nvPr/>
        </p:nvSpPr>
        <p:spPr>
          <a:xfrm rot="2700000">
            <a:off x="1177090" y="6617460"/>
            <a:ext cx="763910" cy="736132"/>
          </a:xfrm>
          <a:custGeom>
            <a:avLst/>
            <a:gdLst/>
            <a:ahLst/>
            <a:cxnLst/>
            <a:rect l="l" t="t" r="r" b="b"/>
            <a:pathLst>
              <a:path w="763910" h="736132">
                <a:moveTo>
                  <a:pt x="0" y="0"/>
                </a:moveTo>
                <a:lnTo>
                  <a:pt x="763910" y="0"/>
                </a:lnTo>
                <a:lnTo>
                  <a:pt x="763910" y="736132"/>
                </a:lnTo>
                <a:lnTo>
                  <a:pt x="0" y="7361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2" name="Freeform 12"/>
          <p:cNvSpPr/>
          <p:nvPr/>
        </p:nvSpPr>
        <p:spPr>
          <a:xfrm>
            <a:off x="14958988" y="7828313"/>
            <a:ext cx="4375859" cy="3277916"/>
          </a:xfrm>
          <a:custGeom>
            <a:avLst/>
            <a:gdLst/>
            <a:ahLst/>
            <a:cxnLst/>
            <a:rect l="l" t="t" r="r" b="b"/>
            <a:pathLst>
              <a:path w="4375859" h="3277916">
                <a:moveTo>
                  <a:pt x="0" y="0"/>
                </a:moveTo>
                <a:lnTo>
                  <a:pt x="4375859" y="0"/>
                </a:lnTo>
                <a:lnTo>
                  <a:pt x="4375859" y="3277916"/>
                </a:lnTo>
                <a:lnTo>
                  <a:pt x="0" y="32779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3" name="AutoShape 13"/>
          <p:cNvSpPr/>
          <p:nvPr/>
        </p:nvSpPr>
        <p:spPr>
          <a:xfrm rot="-5400000">
            <a:off x="6634346" y="5225721"/>
            <a:ext cx="8055633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Box 14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15" name="Freeform 15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786810"/>
            <a:ext cx="18288000" cy="5639164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1028700" y="6034907"/>
            <a:ext cx="3400422" cy="637579"/>
          </a:xfrm>
          <a:custGeom>
            <a:avLst/>
            <a:gdLst/>
            <a:ahLst/>
            <a:cxnLst/>
            <a:rect l="l" t="t" r="r" b="b"/>
            <a:pathLst>
              <a:path w="3400422" h="637579">
                <a:moveTo>
                  <a:pt x="0" y="0"/>
                </a:moveTo>
                <a:lnTo>
                  <a:pt x="3400422" y="0"/>
                </a:lnTo>
                <a:lnTo>
                  <a:pt x="3400422" y="637580"/>
                </a:lnTo>
                <a:lnTo>
                  <a:pt x="0" y="637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0" y="4777285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 rot="2825414">
            <a:off x="6804931" y="519692"/>
            <a:ext cx="3673904" cy="3900864"/>
          </a:xfrm>
          <a:custGeom>
            <a:avLst/>
            <a:gdLst/>
            <a:ahLst/>
            <a:cxnLst/>
            <a:rect l="l" t="t" r="r" b="b"/>
            <a:pathLst>
              <a:path w="3673904" h="3900864">
                <a:moveTo>
                  <a:pt x="0" y="0"/>
                </a:moveTo>
                <a:lnTo>
                  <a:pt x="3673904" y="0"/>
                </a:lnTo>
                <a:lnTo>
                  <a:pt x="3673904" y="3900864"/>
                </a:lnTo>
                <a:lnTo>
                  <a:pt x="0" y="3900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grpSp>
        <p:nvGrpSpPr>
          <p:cNvPr id="7" name="Group 7"/>
          <p:cNvGrpSpPr/>
          <p:nvPr/>
        </p:nvGrpSpPr>
        <p:grpSpPr>
          <a:xfrm>
            <a:off x="1028700" y="1755128"/>
            <a:ext cx="14137012" cy="2564307"/>
            <a:chOff x="0" y="0"/>
            <a:chExt cx="18849349" cy="3419076"/>
          </a:xfrm>
        </p:grpSpPr>
        <p:sp>
          <p:nvSpPr>
            <p:cNvPr id="8" name="TextBox 8"/>
            <p:cNvSpPr txBox="1"/>
            <p:nvPr/>
          </p:nvSpPr>
          <p:spPr>
            <a:xfrm>
              <a:off x="0" y="9525"/>
              <a:ext cx="18849349" cy="1463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60"/>
                </a:lnSpc>
                <a:spcBef>
                  <a:spcPct val="0"/>
                </a:spcBef>
              </a:pPr>
              <a:r>
                <a:rPr lang="en-US" sz="7300" b="1">
                  <a:solidFill>
                    <a:srgbClr val="2C2C2C"/>
                  </a:solidFill>
                  <a:latin typeface="Nourd Semi-Bold"/>
                  <a:ea typeface="Nourd Semi-Bold"/>
                  <a:cs typeface="Nourd Semi-Bold"/>
                  <a:sym typeface="Nourd Semi-Bold"/>
                </a:rPr>
                <a:t>Veri Setleri: Model Eğitimi için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25768"/>
              <a:ext cx="18849349" cy="1493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HuggingFace platformundan erişilen, duygu etiketli şarkı sözü veri setini kullanarak 3 veri seti oluşturulmuştur.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20545" y="6085727"/>
            <a:ext cx="3216733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 u="sng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Veri Seti İşleme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102939"/>
            <a:ext cx="14792163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Ön İşleme Adımları: Eksik değerlerin, kopyaların ve özel etiketlerin kaldırılması.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Veri Artırımı: Parrot Paraphraser modeli ile duyguyu değiştirmeden örnek sayısı arttırma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Veri Sınırlama: Baskın sınıflardaki örnek sayılarının azaltılması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13" name="Freeform 13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79497" y="1202667"/>
            <a:ext cx="10008503" cy="8046108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grpSp>
        <p:nvGrpSpPr>
          <p:cNvPr id="3" name="Group 3"/>
          <p:cNvGrpSpPr/>
          <p:nvPr/>
        </p:nvGrpSpPr>
        <p:grpSpPr>
          <a:xfrm>
            <a:off x="1028700" y="2092820"/>
            <a:ext cx="6550754" cy="6101360"/>
            <a:chOff x="0" y="0"/>
            <a:chExt cx="8734339" cy="8135147"/>
          </a:xfrm>
        </p:grpSpPr>
        <p:sp>
          <p:nvSpPr>
            <p:cNvPr id="4" name="TextBox 4"/>
            <p:cNvSpPr txBox="1"/>
            <p:nvPr/>
          </p:nvSpPr>
          <p:spPr>
            <a:xfrm>
              <a:off x="0" y="0"/>
              <a:ext cx="8734339" cy="284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 b="1">
                  <a:solidFill>
                    <a:srgbClr val="2C2C2C"/>
                  </a:solidFill>
                  <a:latin typeface="Nourd Semi-Bold"/>
                  <a:ea typeface="Nourd Semi-Bold"/>
                  <a:cs typeface="Nourd Semi-Bold"/>
                  <a:sym typeface="Nourd Semi-Bold"/>
                </a:rPr>
                <a:t>Model Eğitim Veri Seti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0498"/>
              <a:ext cx="7883996" cy="4594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Dataset 1: Kısmi Artırım (disgust sınıfına odaklı).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Dataset 2: Daha dengeli hale getirilmiş; baskın sınıflar 4000'e sınırlandı, diğerleri artırıldı.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Dataset 3: Bütün sınıfların 2000'e sabitlendiği veri seti.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7" name="AutoShape 7"/>
          <p:cNvSpPr/>
          <p:nvPr/>
        </p:nvSpPr>
        <p:spPr>
          <a:xfrm>
            <a:off x="0" y="9248775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8" name="AutoShape 8"/>
          <p:cNvSpPr/>
          <p:nvPr/>
        </p:nvSpPr>
        <p:spPr>
          <a:xfrm rot="-5400000">
            <a:off x="4256444" y="5225721"/>
            <a:ext cx="8055633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9" name="Freeform 9"/>
          <p:cNvSpPr/>
          <p:nvPr/>
        </p:nvSpPr>
        <p:spPr>
          <a:xfrm rot="-7137048">
            <a:off x="7524978" y="7395554"/>
            <a:ext cx="1046354" cy="1338360"/>
          </a:xfrm>
          <a:custGeom>
            <a:avLst/>
            <a:gdLst/>
            <a:ahLst/>
            <a:cxnLst/>
            <a:rect l="l" t="t" r="r" b="b"/>
            <a:pathLst>
              <a:path w="1046354" h="1338360">
                <a:moveTo>
                  <a:pt x="0" y="0"/>
                </a:moveTo>
                <a:lnTo>
                  <a:pt x="1046354" y="0"/>
                </a:lnTo>
                <a:lnTo>
                  <a:pt x="1046354" y="1338359"/>
                </a:lnTo>
                <a:lnTo>
                  <a:pt x="0" y="1338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0" name="TextBox 10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789275" y="2206018"/>
          <a:ext cx="9137877" cy="6160149"/>
        </p:xfrm>
        <a:graphic>
          <a:graphicData uri="http://schemas.openxmlformats.org/drawingml/2006/table">
            <a:tbl>
              <a:tblPr/>
              <a:tblGrid>
                <a:gridCol w="1305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4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2283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Duygu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Anger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Disgust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Fear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Joy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Sadness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Surprise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8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Hazır set (İşlenmiş)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3342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8324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1756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7417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283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3341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8307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1743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7399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283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4045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1913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3643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2990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283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Freeform 12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79497" y="1202667"/>
            <a:ext cx="10008503" cy="8046108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sp>
        <p:nvSpPr>
          <p:cNvPr id="3" name="AutoShape 3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0" y="9248775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rot="-5400000">
            <a:off x="4256444" y="5225721"/>
            <a:ext cx="8055633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6" name="Freeform 6"/>
          <p:cNvSpPr/>
          <p:nvPr/>
        </p:nvSpPr>
        <p:spPr>
          <a:xfrm rot="-7137048">
            <a:off x="7895082" y="7392550"/>
            <a:ext cx="1046354" cy="1338360"/>
          </a:xfrm>
          <a:custGeom>
            <a:avLst/>
            <a:gdLst/>
            <a:ahLst/>
            <a:cxnLst/>
            <a:rect l="l" t="t" r="r" b="b"/>
            <a:pathLst>
              <a:path w="1046354" h="1338360">
                <a:moveTo>
                  <a:pt x="0" y="0"/>
                </a:moveTo>
                <a:lnTo>
                  <a:pt x="1046354" y="0"/>
                </a:lnTo>
                <a:lnTo>
                  <a:pt x="1046354" y="1338360"/>
                </a:lnTo>
                <a:lnTo>
                  <a:pt x="0" y="133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7" name="TextBox 7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626149" y="1744602"/>
          <a:ext cx="7315200" cy="714375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Tür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Örnek Sayısı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1537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1528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Country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1269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Hip-hop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1353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R&amp;B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1028700" y="2349995"/>
            <a:ext cx="6550754" cy="5587010"/>
            <a:chOff x="0" y="0"/>
            <a:chExt cx="8734339" cy="744934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8734339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6999" b="1">
                  <a:solidFill>
                    <a:srgbClr val="2C2C2C"/>
                  </a:solidFill>
                  <a:latin typeface="Nourd Bold"/>
                  <a:ea typeface="Nourd Bold"/>
                  <a:cs typeface="Nourd Bold"/>
                  <a:sym typeface="Nourd Bold"/>
                </a:rPr>
                <a:t>Duygu Analizi Veri Seti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515098"/>
              <a:ext cx="7883996" cy="3934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Spotify API ve Genius API kullanılarak 7.219 şarkılık veri toplandı</a:t>
              </a:r>
            </a:p>
            <a:p>
              <a:pPr marL="604519" lvl="1" indent="-302260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İçerik: Şarkı sözleri (Genius), şarkı ismi, sanatçı, tür, popülerlik, yayın yılı (Spotify)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72732"/>
            <a:ext cx="6726891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Metodoloji</a:t>
            </a:r>
          </a:p>
        </p:txBody>
      </p:sp>
      <p:sp>
        <p:nvSpPr>
          <p:cNvPr id="3" name="AutoShape 3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pSp>
        <p:nvGrpSpPr>
          <p:cNvPr id="4" name="Group 4"/>
          <p:cNvGrpSpPr/>
          <p:nvPr/>
        </p:nvGrpSpPr>
        <p:grpSpPr>
          <a:xfrm>
            <a:off x="1028700" y="4087232"/>
            <a:ext cx="4584125" cy="2483156"/>
            <a:chOff x="0" y="0"/>
            <a:chExt cx="6112166" cy="3310875"/>
          </a:xfrm>
        </p:grpSpPr>
        <p:sp>
          <p:nvSpPr>
            <p:cNvPr id="5" name="TextBox 5"/>
            <p:cNvSpPr txBox="1"/>
            <p:nvPr/>
          </p:nvSpPr>
          <p:spPr>
            <a:xfrm>
              <a:off x="0" y="1573152"/>
              <a:ext cx="6112166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Kullanılan Modeller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763716"/>
              <a:ext cx="6112166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BERT, RoBERTa ve DeBERTaV3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939280" cy="978416"/>
            </a:xfrm>
            <a:custGeom>
              <a:avLst/>
              <a:gdLst/>
              <a:ahLst/>
              <a:cxnLst/>
              <a:rect l="l" t="t" r="r" b="b"/>
              <a:pathLst>
                <a:path w="939280" h="978416">
                  <a:moveTo>
                    <a:pt x="0" y="0"/>
                  </a:moveTo>
                  <a:lnTo>
                    <a:pt x="939280" y="0"/>
                  </a:lnTo>
                  <a:lnTo>
                    <a:pt x="939280" y="978416"/>
                  </a:lnTo>
                  <a:lnTo>
                    <a:pt x="0" y="978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8851" y="109266"/>
              <a:ext cx="701577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1938" y="4087232"/>
            <a:ext cx="4584125" cy="3359456"/>
            <a:chOff x="0" y="0"/>
            <a:chExt cx="6112166" cy="44792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573152"/>
              <a:ext cx="6112166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Veri Seti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763716"/>
              <a:ext cx="6112166" cy="1715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Her model için %80 eğitim, %10 doğrulama ve %10 test dağılımı kullanılmıştır.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939280" cy="978416"/>
            </a:xfrm>
            <a:custGeom>
              <a:avLst/>
              <a:gdLst/>
              <a:ahLst/>
              <a:cxnLst/>
              <a:rect l="l" t="t" r="r" b="b"/>
              <a:pathLst>
                <a:path w="939280" h="978416">
                  <a:moveTo>
                    <a:pt x="0" y="0"/>
                  </a:moveTo>
                  <a:lnTo>
                    <a:pt x="939280" y="0"/>
                  </a:lnTo>
                  <a:lnTo>
                    <a:pt x="939280" y="978416"/>
                  </a:lnTo>
                  <a:lnTo>
                    <a:pt x="0" y="978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851" y="109266"/>
              <a:ext cx="701577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675175" y="4087232"/>
            <a:ext cx="4584125" cy="5112056"/>
            <a:chOff x="0" y="0"/>
            <a:chExt cx="6112166" cy="681607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573152"/>
              <a:ext cx="6112166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Model Eğitimi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763716"/>
              <a:ext cx="6112166" cy="405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Sınıf dengesizliğini azaltmak için sınıf ağırlıklı eğitim kulllanılmıştır (Dataset 1 ve 2 için).</a:t>
              </a:r>
            </a:p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F1 Skoruna göre erken durdurma</a:t>
              </a:r>
            </a:p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Hiperparametre için ampirik ayarlama yapılmıştır.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939280" cy="978416"/>
            </a:xfrm>
            <a:custGeom>
              <a:avLst/>
              <a:gdLst/>
              <a:ahLst/>
              <a:cxnLst/>
              <a:rect l="l" t="t" r="r" b="b"/>
              <a:pathLst>
                <a:path w="939280" h="978416">
                  <a:moveTo>
                    <a:pt x="0" y="0"/>
                  </a:moveTo>
                  <a:lnTo>
                    <a:pt x="939280" y="0"/>
                  </a:lnTo>
                  <a:lnTo>
                    <a:pt x="939280" y="978416"/>
                  </a:lnTo>
                  <a:lnTo>
                    <a:pt x="0" y="978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851" y="109266"/>
              <a:ext cx="701577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50"/>
                </a:lnSpc>
              </a:pPr>
              <a:r>
                <a:rPr lang="en-US" sz="35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3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20" name="Freeform 20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504242"/>
            <a:ext cx="8889299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Karşılaştırmalı Performans Analizi</a:t>
            </a:r>
          </a:p>
        </p:txBody>
      </p:sp>
      <p:sp>
        <p:nvSpPr>
          <p:cNvPr id="3" name="Freeform 3"/>
          <p:cNvSpPr/>
          <p:nvPr/>
        </p:nvSpPr>
        <p:spPr>
          <a:xfrm rot="1721316">
            <a:off x="1386801" y="3492370"/>
            <a:ext cx="2578854" cy="2621756"/>
          </a:xfrm>
          <a:custGeom>
            <a:avLst/>
            <a:gdLst/>
            <a:ahLst/>
            <a:cxnLst/>
            <a:rect l="l" t="t" r="r" b="b"/>
            <a:pathLst>
              <a:path w="2578854" h="2621756">
                <a:moveTo>
                  <a:pt x="0" y="0"/>
                </a:moveTo>
                <a:lnTo>
                  <a:pt x="2578855" y="0"/>
                </a:lnTo>
                <a:lnTo>
                  <a:pt x="2578855" y="2621756"/>
                </a:lnTo>
                <a:lnTo>
                  <a:pt x="0" y="262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>
            <a:off x="9739308" y="1202667"/>
            <a:ext cx="8548692" cy="9084333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sp>
        <p:nvSpPr>
          <p:cNvPr id="6" name="AutoShape 6"/>
          <p:cNvSpPr/>
          <p:nvPr/>
        </p:nvSpPr>
        <p:spPr>
          <a:xfrm flipV="1">
            <a:off x="9739308" y="1202667"/>
            <a:ext cx="0" cy="9084333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Box 7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0081031" y="1516992"/>
          <a:ext cx="7862891" cy="8462855"/>
        </p:xfrm>
        <a:graphic>
          <a:graphicData uri="http://schemas.openxmlformats.org/drawingml/2006/table">
            <a:tbl>
              <a:tblPr/>
              <a:tblGrid>
                <a:gridCol w="1310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1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58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4838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Veri Kümesi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Kesinlik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Duyarlılık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Doğruluk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F-1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RoBERTa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RoBERTa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RoBERTa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DeBERTa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DeBERTa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238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DeBERTa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0.71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915803" y="5326912"/>
            <a:ext cx="6380503" cy="443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RoBERTa modeli tüm veri setlerinde en yüksek performansı gösterdi. Dataset 2'de en iyi sonuca ulaşıldı. 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BERT istikrarlı ve rekabetçi bir izlenim gösterdi.</a:t>
            </a:r>
          </a:p>
          <a:p>
            <a:pPr marL="604521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DeBERTaV3 diğerlerine kıyasla daha düşük performans, özellikle sentetik dengeli Dataset 3'te belirgin bir düşüş 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4170">
            <a:off x="2395115" y="1163020"/>
            <a:ext cx="3681253" cy="3834639"/>
          </a:xfrm>
          <a:custGeom>
            <a:avLst/>
            <a:gdLst/>
            <a:ahLst/>
            <a:cxnLst/>
            <a:rect l="l" t="t" r="r" b="b"/>
            <a:pathLst>
              <a:path w="3681253" h="3834639">
                <a:moveTo>
                  <a:pt x="0" y="0"/>
                </a:moveTo>
                <a:lnTo>
                  <a:pt x="3681253" y="0"/>
                </a:lnTo>
                <a:lnTo>
                  <a:pt x="3681253" y="3834639"/>
                </a:lnTo>
                <a:lnTo>
                  <a:pt x="0" y="383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AutoShape 3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635203"/>
              </p:ext>
            </p:extLst>
          </p:nvPr>
        </p:nvGraphicFramePr>
        <p:xfrm>
          <a:off x="1028700" y="4029075"/>
          <a:ext cx="16230600" cy="5391150"/>
        </p:xfrm>
        <a:graphic>
          <a:graphicData uri="http://schemas.openxmlformats.org/drawingml/2006/table">
            <a:tbl>
              <a:tblPr/>
              <a:tblGrid>
                <a:gridCol w="4961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68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70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Veri Seti Dengelemenin Etkisi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1 (Dengesiz): Baskın fear ve sadness sınıfları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59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2 (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Kısmi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Dengeleme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):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Performans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artışı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gözlemlendi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veri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artırma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ve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azaltma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faydalı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oldu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59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Dataset 3 (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Dengeli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):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Performansta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Dataset 2'e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göre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hafif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düşüş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sentetik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dengenin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her zaman optimal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genelleme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sağlamadığı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görüldü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70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FFFFFF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Duyguya</a:t>
                      </a: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FFFF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Özgü</a:t>
                      </a: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FFFFFF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Gözlemler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Joy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ve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Sadness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sınıfları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tutarlı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ve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yüksek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F-1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skorları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verdi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591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Disgust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ve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Surprise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gibi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başlangıçta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az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temsili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olan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sınıflar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artırımdan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önemli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ölçüde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faydalandı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(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özellikle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RoBERTa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ile</a:t>
                      </a:r>
                      <a:r>
                        <a:rPr lang="en-US" sz="2000" dirty="0">
                          <a:solidFill>
                            <a:srgbClr val="2C2C2C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)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28700" y="1674869"/>
            <a:ext cx="15972323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Veri Seti </a:t>
            </a:r>
            <a:r>
              <a:rPr lang="en-US" sz="6999" b="1" dirty="0" err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Dengelemenin</a:t>
            </a:r>
            <a:r>
              <a:rPr lang="en-US" sz="6999" b="1" dirty="0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6999" b="1" dirty="0" err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ve</a:t>
            </a:r>
            <a:r>
              <a:rPr lang="en-US" sz="6999" b="1" dirty="0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6999" b="1" dirty="0" err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Duyguya</a:t>
            </a:r>
            <a:r>
              <a:rPr lang="en-US" sz="6999" b="1" dirty="0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6999" b="1" dirty="0" err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Özgü</a:t>
            </a:r>
            <a:r>
              <a:rPr lang="en-US" sz="6999" b="1" dirty="0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6999" b="1" dirty="0" err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Gözlemlerin</a:t>
            </a:r>
            <a:r>
              <a:rPr lang="en-US" sz="6999" b="1" dirty="0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 </a:t>
            </a:r>
            <a:r>
              <a:rPr lang="en-US" sz="6999" b="1" dirty="0" err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Etkisi</a:t>
            </a:r>
            <a:endParaRPr lang="en-US" sz="6999" b="1" dirty="0">
              <a:solidFill>
                <a:srgbClr val="2C2C2C"/>
              </a:solidFill>
              <a:latin typeface="Nourd Semi-Bold"/>
              <a:ea typeface="Nourd Semi-Bold"/>
              <a:cs typeface="Nourd Semi-Bold"/>
              <a:sym typeface="Nourd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7" name="Freeform 7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5414">
            <a:off x="1171889" y="3026371"/>
            <a:ext cx="5111625" cy="5427401"/>
          </a:xfrm>
          <a:custGeom>
            <a:avLst/>
            <a:gdLst/>
            <a:ahLst/>
            <a:cxnLst/>
            <a:rect l="l" t="t" r="r" b="b"/>
            <a:pathLst>
              <a:path w="5111625" h="5427401">
                <a:moveTo>
                  <a:pt x="0" y="0"/>
                </a:moveTo>
                <a:lnTo>
                  <a:pt x="5111625" y="0"/>
                </a:lnTo>
                <a:lnTo>
                  <a:pt x="5111625" y="5427401"/>
                </a:lnTo>
                <a:lnTo>
                  <a:pt x="0" y="5427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1028700" y="2500312"/>
            <a:ext cx="5748666" cy="528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Power Analiz ve Gerçek Dünya Duygu Analizi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7187" y="5744834"/>
            <a:ext cx="10130813" cy="4542166"/>
            <a:chOff x="0" y="0"/>
            <a:chExt cx="2036685" cy="9131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6685" cy="913151"/>
            </a:xfrm>
            <a:custGeom>
              <a:avLst/>
              <a:gdLst/>
              <a:ahLst/>
              <a:cxnLst/>
              <a:rect l="l" t="t" r="r" b="b"/>
              <a:pathLst>
                <a:path w="2036685" h="913151">
                  <a:moveTo>
                    <a:pt x="0" y="0"/>
                  </a:moveTo>
                  <a:lnTo>
                    <a:pt x="2036685" y="0"/>
                  </a:lnTo>
                  <a:lnTo>
                    <a:pt x="2036685" y="913151"/>
                  </a:lnTo>
                  <a:lnTo>
                    <a:pt x="0" y="913151"/>
                  </a:lnTo>
                  <a:close/>
                </a:path>
              </a:pathLst>
            </a:custGeom>
            <a:solidFill>
              <a:srgbClr val="EDF0F2"/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036685" cy="94172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289"/>
                </a:lnSpc>
              </a:pPr>
              <a:r>
                <a:rPr lang="en-US" sz="3299" b="1">
                  <a:solidFill>
                    <a:srgbClr val="2C2C2C"/>
                  </a:solidFill>
                  <a:latin typeface="Nourd Bold"/>
                  <a:ea typeface="Nourd Bold"/>
                  <a:cs typeface="Nourd Bold"/>
                  <a:sym typeface="Nourd Bold"/>
                </a:rPr>
                <a:t>Gerçek Dünya Duygu Analizi</a:t>
              </a:r>
            </a:p>
            <a:p>
              <a:pPr algn="ctr">
                <a:lnSpc>
                  <a:spcPts val="4289"/>
                </a:lnSpc>
              </a:pPr>
              <a:endParaRPr lang="en-US" sz="3299" b="1">
                <a:solidFill>
                  <a:srgbClr val="2C2C2C"/>
                </a:solidFill>
                <a:latin typeface="Nourd Bold"/>
                <a:ea typeface="Nourd Bold"/>
                <a:cs typeface="Nourd Bold"/>
                <a:sym typeface="Nourd Bold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Tahmin edilen duyguların dağılımı incelendiğinde, fear, sadness, disgust gibi olumsuz duyguların baskın olduğu görüldü.</a:t>
              </a:r>
            </a:p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Bu olumsuz duygular, şarkı popülerliği ile pozitif ilişkiliydi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57187" y="1202667"/>
            <a:ext cx="10130813" cy="4542166"/>
            <a:chOff x="0" y="0"/>
            <a:chExt cx="2036685" cy="9131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36685" cy="913151"/>
            </a:xfrm>
            <a:custGeom>
              <a:avLst/>
              <a:gdLst/>
              <a:ahLst/>
              <a:cxnLst/>
              <a:rect l="l" t="t" r="r" b="b"/>
              <a:pathLst>
                <a:path w="2036685" h="913151">
                  <a:moveTo>
                    <a:pt x="0" y="0"/>
                  </a:moveTo>
                  <a:lnTo>
                    <a:pt x="2036685" y="0"/>
                  </a:lnTo>
                  <a:lnTo>
                    <a:pt x="2036685" y="913151"/>
                  </a:lnTo>
                  <a:lnTo>
                    <a:pt x="0" y="913151"/>
                  </a:lnTo>
                  <a:close/>
                </a:path>
              </a:pathLst>
            </a:custGeom>
            <a:solidFill>
              <a:srgbClr val="EDF0F2"/>
            </a:solidFill>
          </p:spPr>
          <p:txBody>
            <a:bodyPr/>
            <a:lstStyle/>
            <a:p>
              <a:endParaRPr lang="en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036685" cy="94172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289"/>
                </a:lnSpc>
              </a:pPr>
              <a:r>
                <a:rPr lang="en-US" sz="3299" b="1">
                  <a:solidFill>
                    <a:srgbClr val="2C2C2C"/>
                  </a:solidFill>
                  <a:latin typeface="Nourd Bold"/>
                  <a:ea typeface="Nourd Bold"/>
                  <a:cs typeface="Nourd Bold"/>
                  <a:sym typeface="Nourd Bold"/>
                </a:rPr>
                <a:t>Power Analiz ve Ground Truth</a:t>
              </a:r>
            </a:p>
            <a:p>
              <a:pPr algn="ctr">
                <a:lnSpc>
                  <a:spcPts val="4289"/>
                </a:lnSpc>
              </a:pPr>
              <a:endParaRPr lang="en-US" sz="3299" b="1">
                <a:solidFill>
                  <a:srgbClr val="2C2C2C"/>
                </a:solidFill>
                <a:latin typeface="Nourd Bold"/>
                <a:ea typeface="Nourd Bold"/>
                <a:cs typeface="Nourd Bold"/>
                <a:sym typeface="Nourd Bold"/>
              </a:endParaRPr>
            </a:p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En iyi model ile power analiz yapıldı.</a:t>
              </a:r>
            </a:p>
            <a:p>
              <a:pPr algn="ctr">
                <a:lnSpc>
                  <a:spcPts val="3640"/>
                </a:lnSpc>
              </a:pPr>
              <a:r>
                <a:rPr lang="en-US" sz="2800">
                  <a:solidFill>
                    <a:srgbClr val="2C2C2C"/>
                  </a:solidFill>
                  <a:latin typeface="Nourd"/>
                  <a:ea typeface="Nourd"/>
                  <a:cs typeface="Nourd"/>
                  <a:sym typeface="Nourd"/>
                </a:rPr>
                <a:t>Ekip üyerlerince etiketlenen 114 örnekle oluşturulan ground truth setinde, model %73 F-1 skoru elde etti.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1" name="AutoShape 11"/>
          <p:cNvSpPr/>
          <p:nvPr/>
        </p:nvSpPr>
        <p:spPr>
          <a:xfrm flipV="1">
            <a:off x="8072633" y="5740071"/>
            <a:ext cx="10509061" cy="4763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2" name="AutoShape 12"/>
          <p:cNvSpPr/>
          <p:nvPr/>
        </p:nvSpPr>
        <p:spPr>
          <a:xfrm flipH="1" flipV="1">
            <a:off x="8157187" y="1197905"/>
            <a:ext cx="0" cy="9089095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Box 13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14" name="Freeform 14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316">
            <a:off x="2929524" y="2488764"/>
            <a:ext cx="2578854" cy="2621756"/>
          </a:xfrm>
          <a:custGeom>
            <a:avLst/>
            <a:gdLst/>
            <a:ahLst/>
            <a:cxnLst/>
            <a:rect l="l" t="t" r="r" b="b"/>
            <a:pathLst>
              <a:path w="2578854" h="2621756">
                <a:moveTo>
                  <a:pt x="0" y="0"/>
                </a:moveTo>
                <a:lnTo>
                  <a:pt x="2578854" y="0"/>
                </a:lnTo>
                <a:lnTo>
                  <a:pt x="2578854" y="2621756"/>
                </a:lnTo>
                <a:lnTo>
                  <a:pt x="0" y="262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AutoShape 3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4" name="AutoShape 4"/>
          <p:cNvSpPr/>
          <p:nvPr/>
        </p:nvSpPr>
        <p:spPr>
          <a:xfrm>
            <a:off x="8402572" y="1202667"/>
            <a:ext cx="9885428" cy="9084333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sp>
        <p:nvSpPr>
          <p:cNvPr id="5" name="AutoShape 5"/>
          <p:cNvSpPr/>
          <p:nvPr/>
        </p:nvSpPr>
        <p:spPr>
          <a:xfrm flipV="1">
            <a:off x="8402572" y="1168360"/>
            <a:ext cx="0" cy="895117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Box 6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144000" y="2030697"/>
          <a:ext cx="8632234" cy="7516061"/>
        </p:xfrm>
        <a:graphic>
          <a:graphicData uri="http://schemas.openxmlformats.org/drawingml/2006/table">
            <a:tbl>
              <a:tblPr/>
              <a:tblGrid>
                <a:gridCol w="135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2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0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30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Tür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Anger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Disgust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Fear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joy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Sadness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Surprise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96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226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Country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567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89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246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157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Hip-hop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82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R&amp;B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188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028700" y="2504242"/>
            <a:ext cx="6910589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 u="none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Sonuçlar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908939"/>
            <a:ext cx="6380503" cy="344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Genel olarak, özellikle olumsuz duyguların model tarafından daha fazla etiketlendiği görülmektedir.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2C2C2C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R&amp;B ve Blues türlerinde duygusallık daha yoğun ve popülerlik daha yüksektir.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316">
            <a:off x="2929524" y="2488764"/>
            <a:ext cx="2578854" cy="2621756"/>
          </a:xfrm>
          <a:custGeom>
            <a:avLst/>
            <a:gdLst/>
            <a:ahLst/>
            <a:cxnLst/>
            <a:rect l="l" t="t" r="r" b="b"/>
            <a:pathLst>
              <a:path w="2578854" h="2621756">
                <a:moveTo>
                  <a:pt x="0" y="0"/>
                </a:moveTo>
                <a:lnTo>
                  <a:pt x="2578854" y="0"/>
                </a:lnTo>
                <a:lnTo>
                  <a:pt x="2578854" y="2621756"/>
                </a:lnTo>
                <a:lnTo>
                  <a:pt x="0" y="262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1028700" y="2504242"/>
            <a:ext cx="6910589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 u="none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Sonuçlar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715476"/>
            <a:ext cx="6380503" cy="39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Özellikle anger, disgust ve fear içeren R&amp;B şarkılarının ortalama popülerlik skorları 70'i aşmıştır.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2C2C2C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Diğer türlerde daha düşük ortalama popülerlik skorları ve pozitif duyguların daha az temsil edilmesi gözlemlenmiştir.</a:t>
            </a:r>
          </a:p>
        </p:txBody>
      </p:sp>
      <p:sp>
        <p:nvSpPr>
          <p:cNvPr id="5" name="AutoShape 5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6" name="AutoShape 6"/>
          <p:cNvSpPr/>
          <p:nvPr/>
        </p:nvSpPr>
        <p:spPr>
          <a:xfrm>
            <a:off x="8352266" y="1202667"/>
            <a:ext cx="9935734" cy="9084333"/>
          </a:xfrm>
          <a:prstGeom prst="rect">
            <a:avLst/>
          </a:prstGeom>
          <a:solidFill>
            <a:srgbClr val="EDF0F2"/>
          </a:solidFill>
        </p:spPr>
        <p:txBody>
          <a:bodyPr/>
          <a:lstStyle/>
          <a:p>
            <a:endParaRPr lang="en-TR"/>
          </a:p>
        </p:txBody>
      </p:sp>
      <p:sp>
        <p:nvSpPr>
          <p:cNvPr id="7" name="AutoShape 7"/>
          <p:cNvSpPr/>
          <p:nvPr/>
        </p:nvSpPr>
        <p:spPr>
          <a:xfrm flipV="1">
            <a:off x="8352266" y="1202667"/>
            <a:ext cx="0" cy="9084333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Box 8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892469" y="2030697"/>
          <a:ext cx="8883765" cy="7516061"/>
        </p:xfrm>
        <a:graphic>
          <a:graphicData uri="http://schemas.openxmlformats.org/drawingml/2006/table">
            <a:tbl>
              <a:tblPr/>
              <a:tblGrid>
                <a:gridCol w="133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1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1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Tür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Anger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Disgust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Fear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Joy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Sadness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Nourd Bold"/>
                          <a:ea typeface="Nourd Bold"/>
                          <a:cs typeface="Nourd Bold"/>
                          <a:sym typeface="Nourd Bold"/>
                        </a:rPr>
                        <a:t>Surprise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Blues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67.74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68.14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67.67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67.07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65.78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67.39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Country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61.23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63.39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59.43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58.73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56.47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60.11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Hip-hop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51.26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48.34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59.28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56.83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59.00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56.13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50.19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51.66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46.27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41.95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48.77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50.51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R&amp;B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74.09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72.31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71.83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71.11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67.65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73.29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37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57.22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61.13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46.27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46.59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48.08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36.73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Freeform 10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5414">
            <a:off x="1332406" y="611176"/>
            <a:ext cx="4586848" cy="4870205"/>
          </a:xfrm>
          <a:custGeom>
            <a:avLst/>
            <a:gdLst/>
            <a:ahLst/>
            <a:cxnLst/>
            <a:rect l="l" t="t" r="r" b="b"/>
            <a:pathLst>
              <a:path w="4586848" h="4870205">
                <a:moveTo>
                  <a:pt x="0" y="0"/>
                </a:moveTo>
                <a:lnTo>
                  <a:pt x="4586847" y="0"/>
                </a:lnTo>
                <a:lnTo>
                  <a:pt x="4586847" y="4870205"/>
                </a:lnTo>
                <a:lnTo>
                  <a:pt x="0" y="4870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1028700" y="2398579"/>
            <a:ext cx="1330782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Sonuç</a:t>
            </a:r>
          </a:p>
        </p:txBody>
      </p:sp>
      <p:sp>
        <p:nvSpPr>
          <p:cNvPr id="4" name="AutoShape 4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028700" y="5508644"/>
            <a:ext cx="15602953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Şarkı sözlerindeki duguların tür ve popülerlik ilişkisi analiz edildi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582921"/>
            <a:ext cx="15602953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RoBERTa modelinin üstünlüğü ve veri dengeleme stratejilerinin performansa katkısı kanıtlandı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224396"/>
            <a:ext cx="15602953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C2C2C"/>
                </a:solidFill>
                <a:latin typeface="Nourd"/>
                <a:ea typeface="Nourd"/>
                <a:cs typeface="Nourd"/>
                <a:sym typeface="Nourd"/>
              </a:rPr>
              <a:t>Gerçek dünya verisinde olumsuz duyguların popülerlik ile pozitif ilişkisi tepsit edildi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9" name="Freeform 9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5414">
            <a:off x="3443194" y="1538298"/>
            <a:ext cx="6951390" cy="7380819"/>
          </a:xfrm>
          <a:custGeom>
            <a:avLst/>
            <a:gdLst/>
            <a:ahLst/>
            <a:cxnLst/>
            <a:rect l="l" t="t" r="r" b="b"/>
            <a:pathLst>
              <a:path w="6951390" h="7380819">
                <a:moveTo>
                  <a:pt x="0" y="0"/>
                </a:moveTo>
                <a:lnTo>
                  <a:pt x="6951390" y="0"/>
                </a:lnTo>
                <a:lnTo>
                  <a:pt x="6951390" y="7380820"/>
                </a:lnTo>
                <a:lnTo>
                  <a:pt x="0" y="7380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2490087" y="3939028"/>
            <a:ext cx="13307825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8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Dinlediğiniz için</a:t>
            </a:r>
          </a:p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8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Teşekkürler.</a:t>
            </a:r>
          </a:p>
        </p:txBody>
      </p:sp>
      <p:sp>
        <p:nvSpPr>
          <p:cNvPr id="4" name="AutoShape 4"/>
          <p:cNvSpPr/>
          <p:nvPr/>
        </p:nvSpPr>
        <p:spPr>
          <a:xfrm>
            <a:off x="-408731" y="1193142"/>
            <a:ext cx="18875389" cy="0"/>
          </a:xfrm>
          <a:prstGeom prst="line">
            <a:avLst/>
          </a:prstGeom>
          <a:ln w="9525" cap="flat">
            <a:solidFill>
              <a:srgbClr val="2C2C2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Box 5"/>
          <p:cNvSpPr txBox="1"/>
          <p:nvPr/>
        </p:nvSpPr>
        <p:spPr>
          <a:xfrm>
            <a:off x="1657245" y="458459"/>
            <a:ext cx="34076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C2C2C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YILDIZ TEKNIK ÜNIVERSITESI</a:t>
            </a:r>
          </a:p>
        </p:txBody>
      </p:sp>
      <p:sp>
        <p:nvSpPr>
          <p:cNvPr id="6" name="Freeform 6"/>
          <p:cNvSpPr/>
          <p:nvPr/>
        </p:nvSpPr>
        <p:spPr>
          <a:xfrm>
            <a:off x="830131" y="311846"/>
            <a:ext cx="568969" cy="578976"/>
          </a:xfrm>
          <a:custGeom>
            <a:avLst/>
            <a:gdLst/>
            <a:ahLst/>
            <a:cxnLst/>
            <a:rect l="l" t="t" r="r" b="b"/>
            <a:pathLst>
              <a:path w="568969" h="578976">
                <a:moveTo>
                  <a:pt x="0" y="0"/>
                </a:moveTo>
                <a:lnTo>
                  <a:pt x="568969" y="0"/>
                </a:lnTo>
                <a:lnTo>
                  <a:pt x="568969" y="578976"/>
                </a:lnTo>
                <a:lnTo>
                  <a:pt x="0" y="57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813</Words>
  <Application>Microsoft Macintosh PowerPoint</Application>
  <PresentationFormat>Custom</PresentationFormat>
  <Paragraphs>289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Nourd Semi-Bold</vt:lpstr>
      <vt:lpstr>Nourd</vt:lpstr>
      <vt:lpstr>Calibri</vt:lpstr>
      <vt:lpstr>Nourd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Şarkı Sözlerin Duygu Analizi</dc:title>
  <cp:lastModifiedBy>Melih YELMAN</cp:lastModifiedBy>
  <cp:revision>2</cp:revision>
  <dcterms:created xsi:type="dcterms:W3CDTF">2006-08-16T00:00:00Z</dcterms:created>
  <dcterms:modified xsi:type="dcterms:W3CDTF">2025-06-16T21:50:23Z</dcterms:modified>
  <dc:identifier>DAGp5LpP6G4</dc:identifier>
</cp:coreProperties>
</file>