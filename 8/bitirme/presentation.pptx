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8"/>
  </p:notesMasterIdLst>
  <p:sldIdLst>
    <p:sldId id="256" r:id="rId2"/>
    <p:sldId id="258" r:id="rId3"/>
    <p:sldId id="260" r:id="rId4"/>
    <p:sldId id="268" r:id="rId5"/>
    <p:sldId id="274" r:id="rId6"/>
    <p:sldId id="304" r:id="rId7"/>
    <p:sldId id="305" r:id="rId8"/>
    <p:sldId id="306" r:id="rId9"/>
    <p:sldId id="307" r:id="rId10"/>
    <p:sldId id="310" r:id="rId11"/>
    <p:sldId id="327" r:id="rId12"/>
    <p:sldId id="325" r:id="rId13"/>
    <p:sldId id="311" r:id="rId14"/>
    <p:sldId id="313" r:id="rId15"/>
    <p:sldId id="312" r:id="rId16"/>
    <p:sldId id="314" r:id="rId17"/>
    <p:sldId id="317" r:id="rId18"/>
    <p:sldId id="318" r:id="rId19"/>
    <p:sldId id="323" r:id="rId20"/>
    <p:sldId id="308" r:id="rId21"/>
    <p:sldId id="309" r:id="rId22"/>
    <p:sldId id="326" r:id="rId23"/>
    <p:sldId id="319" r:id="rId24"/>
    <p:sldId id="320" r:id="rId25"/>
    <p:sldId id="321" r:id="rId26"/>
    <p:sldId id="324" r:id="rId27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29"/>
    </p:embeddedFont>
    <p:embeddedFont>
      <p:font typeface="Mulish" pitchFamily="2" charset="77"/>
      <p:regular r:id="rId30"/>
      <p:bold r:id="rId31"/>
      <p:italic r:id="rId32"/>
      <p:boldItalic r:id="rId33"/>
    </p:embeddedFont>
    <p:embeddedFont>
      <p:font typeface="Quicksand" pitchFamily="2" charset="77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3D386BD-B482-FC47-9C35-8A8CCDBF1F73}">
          <p14:sldIdLst>
            <p14:sldId id="256"/>
            <p14:sldId id="258"/>
            <p14:sldId id="260"/>
            <p14:sldId id="268"/>
            <p14:sldId id="274"/>
            <p14:sldId id="304"/>
            <p14:sldId id="305"/>
            <p14:sldId id="306"/>
            <p14:sldId id="307"/>
            <p14:sldId id="310"/>
            <p14:sldId id="327"/>
            <p14:sldId id="325"/>
            <p14:sldId id="311"/>
            <p14:sldId id="313"/>
            <p14:sldId id="312"/>
            <p14:sldId id="314"/>
            <p14:sldId id="317"/>
            <p14:sldId id="318"/>
            <p14:sldId id="323"/>
            <p14:sldId id="308"/>
            <p14:sldId id="309"/>
            <p14:sldId id="326"/>
            <p14:sldId id="319"/>
            <p14:sldId id="320"/>
            <p14:sldId id="321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BF0CEC-4A96-480C-80B0-DC7B7F095D64}">
  <a:tblStyle styleId="{D4BF0CEC-4A96-480C-80B0-DC7B7F095D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626"/>
    <p:restoredTop sz="94742"/>
  </p:normalViewPr>
  <p:slideViewPr>
    <p:cSldViewPr snapToGrid="0">
      <p:cViewPr varScale="1">
        <p:scale>
          <a:sx n="203" d="100"/>
          <a:sy n="203" d="100"/>
        </p:scale>
        <p:origin x="18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CC6784AA-6128-ED8D-D092-7B91C47A7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438A0241-5FCF-A2EB-A3E7-A6C043D240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F1E79712-7943-4900-C018-FA9C6C13A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915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6CF0D1C1-F7C0-0E4F-CFFA-C95BF5CF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3DEFBCF5-6AC2-FC05-9806-8F27C6D242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DEBD29C1-5CAA-6933-F976-83D250ECE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6767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C63E6C89-0266-09E2-207A-C3F1686B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32E594A7-39F9-8B7D-4D4A-0FABEE447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DFA841A1-D666-1C2A-21DC-01B359CCC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7906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AC80E1AB-C232-0E05-EFFE-0FC5DDCF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DB5491BF-DEEC-4B66-A6A6-85D1E4BC4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E152BD6E-D6F1-E131-6E03-A0647539B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724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30978043-AC31-08FC-9720-2024C31A6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078A9BE0-A40F-38D4-92C0-C6AC089277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A5DCC13C-E744-43F4-AA79-2BD0E76FE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696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30978043-AC31-08FC-9720-2024C31A6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078A9BE0-A40F-38D4-92C0-C6AC089277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A5DCC13C-E744-43F4-AA79-2BD0E76FE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6968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80E72B76-3085-C954-4C82-CEB38EF55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DAC9E125-B6D8-05DD-2BB1-2DADCB35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913B3008-8CFA-C0BA-D558-9F3003015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9278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D7E92FD5-4A1A-1EBA-9227-2748140EF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F64BE7FF-05D7-AB55-CC77-087A9F9CA6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C30D1802-5C5A-E906-B7E2-96E2BF29A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56885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ADB72E8D-7F62-4F01-6CBD-C7E573C6A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BAD9073B-DAC6-66B8-A866-325C69745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DC65ABC3-FF61-70F2-7905-E5FF98BB52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9432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BB5EA661-A7E4-97A0-A434-13EE87867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6C22E8D9-D3E7-3F7C-CA1E-0BA654309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78794001-E808-637B-42CD-D07071B9E4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1965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413449E9-1741-2A9D-72F2-CAAF74277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E4F2694D-8329-11C7-8969-FE2B553E99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2B627DB1-CC80-67F7-CA09-E53FC77D9A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5061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1443BB40-A31C-EC35-2E9E-A92463D6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>
            <a:extLst>
              <a:ext uri="{FF2B5EF4-FFF2-40B4-BE49-F238E27FC236}">
                <a16:creationId xmlns:a16="http://schemas.microsoft.com/office/drawing/2014/main" id="{F6EFF5B8-7F85-A267-C606-99A81195A0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>
            <a:extLst>
              <a:ext uri="{FF2B5EF4-FFF2-40B4-BE49-F238E27FC236}">
                <a16:creationId xmlns:a16="http://schemas.microsoft.com/office/drawing/2014/main" id="{9570CAAB-E377-F91B-42BE-5285BC6A8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00292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953FE202-D60E-142A-C9B1-2E030CEE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>
            <a:extLst>
              <a:ext uri="{FF2B5EF4-FFF2-40B4-BE49-F238E27FC236}">
                <a16:creationId xmlns:a16="http://schemas.microsoft.com/office/drawing/2014/main" id="{19BE1783-E333-8C63-2A02-EE57AB04D1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>
            <a:extLst>
              <a:ext uri="{FF2B5EF4-FFF2-40B4-BE49-F238E27FC236}">
                <a16:creationId xmlns:a16="http://schemas.microsoft.com/office/drawing/2014/main" id="{2FD375FB-9DDF-C2A0-9226-2BFC3F680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3240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63AA4D39-6F33-6678-168A-DF502254C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378C564E-AE27-F211-326A-34A45E8B9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AA2C642A-BD43-FF5A-C77D-ADC92720C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9207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8611427E-098D-ED05-E7CB-40C1A20D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03F9A764-64B5-9414-A896-60B06321E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3DEC91D1-19B3-07BB-2FA1-43CA933DD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3380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B8F630E6-D855-DEB9-BD4D-92234F86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54dda1946d_4_2679:notes">
            <a:extLst>
              <a:ext uri="{FF2B5EF4-FFF2-40B4-BE49-F238E27FC236}">
                <a16:creationId xmlns:a16="http://schemas.microsoft.com/office/drawing/2014/main" id="{9077CACC-36C1-F407-824C-BA1C8FCD91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54dda1946d_4_2679:notes">
            <a:extLst>
              <a:ext uri="{FF2B5EF4-FFF2-40B4-BE49-F238E27FC236}">
                <a16:creationId xmlns:a16="http://schemas.microsoft.com/office/drawing/2014/main" id="{3FB898A5-C090-8A19-D663-AF153886A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02388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4FFB2470-9326-39E9-D7ED-24CC2B36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>
            <a:extLst>
              <a:ext uri="{FF2B5EF4-FFF2-40B4-BE49-F238E27FC236}">
                <a16:creationId xmlns:a16="http://schemas.microsoft.com/office/drawing/2014/main" id="{0F0E378C-E960-CF8E-25B6-0C05C7B98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>
            <a:extLst>
              <a:ext uri="{FF2B5EF4-FFF2-40B4-BE49-F238E27FC236}">
                <a16:creationId xmlns:a16="http://schemas.microsoft.com/office/drawing/2014/main" id="{EA9894D1-F6A2-27A2-E5EC-150F92893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830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1D9BB1D9-58DE-C6CD-7F4E-C4933860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>
            <a:extLst>
              <a:ext uri="{FF2B5EF4-FFF2-40B4-BE49-F238E27FC236}">
                <a16:creationId xmlns:a16="http://schemas.microsoft.com/office/drawing/2014/main" id="{B4E25EBD-3C5A-C01F-1BF0-11679EE98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>
            <a:extLst>
              <a:ext uri="{FF2B5EF4-FFF2-40B4-BE49-F238E27FC236}">
                <a16:creationId xmlns:a16="http://schemas.microsoft.com/office/drawing/2014/main" id="{A4614675-BFF9-8194-BEE1-69A119EFEE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3407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CF1DBA38-1ECC-D133-3190-F93298AA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>
            <a:extLst>
              <a:ext uri="{FF2B5EF4-FFF2-40B4-BE49-F238E27FC236}">
                <a16:creationId xmlns:a16="http://schemas.microsoft.com/office/drawing/2014/main" id="{C4CEB42D-8713-444D-37B8-22E29368C4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>
            <a:extLst>
              <a:ext uri="{FF2B5EF4-FFF2-40B4-BE49-F238E27FC236}">
                <a16:creationId xmlns:a16="http://schemas.microsoft.com/office/drawing/2014/main" id="{D0EDEA5C-A0D5-C309-2940-578B56D34C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75328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2BF02118-E3A6-ECEC-0A62-C388C999B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>
            <a:extLst>
              <a:ext uri="{FF2B5EF4-FFF2-40B4-BE49-F238E27FC236}">
                <a16:creationId xmlns:a16="http://schemas.microsoft.com/office/drawing/2014/main" id="{C85FB6E8-78ED-B962-FA38-DDB41E96A5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>
            <a:extLst>
              <a:ext uri="{FF2B5EF4-FFF2-40B4-BE49-F238E27FC236}">
                <a16:creationId xmlns:a16="http://schemas.microsoft.com/office/drawing/2014/main" id="{FA9EA0F0-C77C-E48D-D289-ADA5201C6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6979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22ED5051-A0D8-5843-B608-27165FBD1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>
            <a:extLst>
              <a:ext uri="{FF2B5EF4-FFF2-40B4-BE49-F238E27FC236}">
                <a16:creationId xmlns:a16="http://schemas.microsoft.com/office/drawing/2014/main" id="{2448D1B7-18ED-03DA-8928-35EBC8B89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>
            <a:extLst>
              <a:ext uri="{FF2B5EF4-FFF2-40B4-BE49-F238E27FC236}">
                <a16:creationId xmlns:a16="http://schemas.microsoft.com/office/drawing/2014/main" id="{6F46D015-4337-A219-5DA6-3E50E5161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871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2" name="Google Shape;52;p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" name="Google Shape;53;p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4" name="Google Shape;54;p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5" name="Google Shape;185;p1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6" name="Google Shape;186;p1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7" name="Google Shape;187;p1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8" name="Google Shape;188;p1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9" name="Google Shape;189;p19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0" name="Google Shape;190;p1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1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2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3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4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5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6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59" r:id="rId5"/>
    <p:sldLayoutId id="2147483664" r:id="rId6"/>
    <p:sldLayoutId id="2147483665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242591" y="190774"/>
            <a:ext cx="8467233" cy="35505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en-US" sz="3200" b="1" dirty="0"/>
              <a:t>TOPIC MODELING AND SENTIMENT ANALYSIS: ANALYZING CULTURAL DIFFERENCES IN MOVIE REVIEWS</a:t>
            </a:r>
            <a:endParaRPr sz="3200" b="1" dirty="0">
              <a:solidFill>
                <a:schemeClr val="dk2"/>
              </a:solidFill>
            </a:endParaRPr>
          </a:p>
        </p:txBody>
      </p:sp>
      <p:sp>
        <p:nvSpPr>
          <p:cNvPr id="286" name="Google Shape;286;p29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Every</a:t>
            </a:r>
            <a:r>
              <a:rPr lang="tr-TR" dirty="0"/>
              <a:t> </a:t>
            </a:r>
            <a:r>
              <a:rPr lang="tr-TR" dirty="0" err="1"/>
              <a:t>nation</a:t>
            </a:r>
            <a:r>
              <a:rPr lang="tr-TR" dirty="0"/>
              <a:t> has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own</a:t>
            </a:r>
            <a:r>
              <a:rPr lang="tr-TR" dirty="0"/>
              <a:t> </a:t>
            </a:r>
            <a:r>
              <a:rPr lang="tr-TR" dirty="0" err="1"/>
              <a:t>unique</a:t>
            </a:r>
            <a:r>
              <a:rPr lang="tr-TR" dirty="0"/>
              <a:t> </a:t>
            </a:r>
            <a:r>
              <a:rPr lang="tr-TR" dirty="0" err="1"/>
              <a:t>culture</a:t>
            </a:r>
            <a:r>
              <a:rPr lang="tr-TR" dirty="0"/>
              <a:t>.</a:t>
            </a:r>
            <a:endParaRPr dirty="0"/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0600" y="2544888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00" y="1348663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D5D8AF-4817-55E9-3930-2F3E0D188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023" y="190774"/>
            <a:ext cx="1094386" cy="109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10" name="Google Shape;310;p31"/>
          <p:cNvSpPr txBox="1">
            <a:spLocks noGrp="1"/>
          </p:cNvSpPr>
          <p:nvPr>
            <p:ph type="title" idx="5"/>
          </p:nvPr>
        </p:nvSpPr>
        <p:spPr>
          <a:xfrm>
            <a:off x="720000" y="1675890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1" name="Google Shape;311;p31"/>
          <p:cNvSpPr txBox="1">
            <a:spLocks noGrp="1"/>
          </p:cNvSpPr>
          <p:nvPr>
            <p:ph type="title" idx="6"/>
          </p:nvPr>
        </p:nvSpPr>
        <p:spPr>
          <a:xfrm>
            <a:off x="2175010" y="2886903"/>
            <a:ext cx="656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12" name="Google Shape;312;p31"/>
          <p:cNvSpPr txBox="1">
            <a:spLocks noGrp="1"/>
          </p:cNvSpPr>
          <p:nvPr>
            <p:ph type="title" idx="7"/>
          </p:nvPr>
        </p:nvSpPr>
        <p:spPr>
          <a:xfrm>
            <a:off x="6123073" y="1690277"/>
            <a:ext cx="656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13" name="Google Shape;313;p31"/>
          <p:cNvSpPr txBox="1">
            <a:spLocks noGrp="1"/>
          </p:cNvSpPr>
          <p:nvPr>
            <p:ph type="title" idx="8"/>
          </p:nvPr>
        </p:nvSpPr>
        <p:spPr>
          <a:xfrm>
            <a:off x="3365900" y="1676657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6" name="Google Shape;316;p31"/>
          <p:cNvSpPr txBox="1">
            <a:spLocks noGrp="1"/>
          </p:cNvSpPr>
          <p:nvPr>
            <p:ph type="title" idx="14"/>
          </p:nvPr>
        </p:nvSpPr>
        <p:spPr>
          <a:xfrm>
            <a:off x="4813523" y="2886903"/>
            <a:ext cx="656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18" name="Google Shape;318;p31"/>
          <p:cNvSpPr txBox="1">
            <a:spLocks noGrp="1"/>
          </p:cNvSpPr>
          <p:nvPr>
            <p:ph type="subTitle" idx="16"/>
          </p:nvPr>
        </p:nvSpPr>
        <p:spPr>
          <a:xfrm>
            <a:off x="720000" y="2129177"/>
            <a:ext cx="2423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Motivation</a:t>
            </a:r>
            <a:endParaRPr dirty="0"/>
          </a:p>
        </p:txBody>
      </p:sp>
      <p:sp>
        <p:nvSpPr>
          <p:cNvPr id="319" name="Google Shape;319;p31"/>
          <p:cNvSpPr txBox="1">
            <a:spLocks noGrp="1"/>
          </p:cNvSpPr>
          <p:nvPr>
            <p:ph type="subTitle" idx="17"/>
          </p:nvPr>
        </p:nvSpPr>
        <p:spPr>
          <a:xfrm>
            <a:off x="6123073" y="2143350"/>
            <a:ext cx="2300927" cy="4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Methodology</a:t>
            </a:r>
            <a:endParaRPr dirty="0"/>
          </a:p>
        </p:txBody>
      </p:sp>
      <p:sp>
        <p:nvSpPr>
          <p:cNvPr id="320" name="Google Shape;320;p31"/>
          <p:cNvSpPr txBox="1">
            <a:spLocks noGrp="1"/>
          </p:cNvSpPr>
          <p:nvPr>
            <p:ph type="subTitle" idx="18"/>
          </p:nvPr>
        </p:nvSpPr>
        <p:spPr>
          <a:xfrm>
            <a:off x="2175010" y="3339965"/>
            <a:ext cx="2423100" cy="4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321" name="Google Shape;321;p31"/>
          <p:cNvSpPr txBox="1">
            <a:spLocks noGrp="1"/>
          </p:cNvSpPr>
          <p:nvPr>
            <p:ph type="subTitle" idx="19"/>
          </p:nvPr>
        </p:nvSpPr>
        <p:spPr>
          <a:xfrm>
            <a:off x="3365899" y="2129177"/>
            <a:ext cx="2635003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Research Questions</a:t>
            </a:r>
            <a:endParaRPr dirty="0"/>
          </a:p>
        </p:txBody>
      </p:sp>
      <p:sp>
        <p:nvSpPr>
          <p:cNvPr id="322" name="Google Shape;322;p31"/>
          <p:cNvSpPr txBox="1">
            <a:spLocks noGrp="1"/>
          </p:cNvSpPr>
          <p:nvPr>
            <p:ph type="subTitle" idx="20"/>
          </p:nvPr>
        </p:nvSpPr>
        <p:spPr>
          <a:xfrm>
            <a:off x="4813523" y="3339965"/>
            <a:ext cx="2423100" cy="4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Motivation</a:t>
            </a:r>
            <a:endParaRPr dirty="0"/>
          </a:p>
        </p:txBody>
      </p:sp>
      <p:sp>
        <p:nvSpPr>
          <p:cNvPr id="342" name="Google Shape;342;p33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There</a:t>
            </a:r>
            <a:r>
              <a:rPr lang="tr-TR" dirty="0"/>
              <a:t> is </a:t>
            </a:r>
            <a:r>
              <a:rPr lang="tr-TR" dirty="0" err="1"/>
              <a:t>no</a:t>
            </a:r>
            <a:r>
              <a:rPr lang="tr-TR" dirty="0"/>
              <a:t> </a:t>
            </a:r>
            <a:r>
              <a:rPr lang="tr-TR" dirty="0" err="1"/>
              <a:t>existing</a:t>
            </a:r>
            <a:r>
              <a:rPr lang="tr-TR" dirty="0"/>
              <a:t> </a:t>
            </a:r>
            <a:r>
              <a:rPr lang="tr-TR" dirty="0" err="1"/>
              <a:t>study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addresses</a:t>
            </a:r>
            <a:r>
              <a:rPr lang="tr-TR" dirty="0"/>
              <a:t> </a:t>
            </a:r>
            <a:r>
              <a:rPr lang="tr-TR" dirty="0" err="1"/>
              <a:t>topic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sentiment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movie</a:t>
            </a:r>
            <a:r>
              <a:rPr lang="tr-TR" dirty="0"/>
              <a:t> domain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both</a:t>
            </a:r>
            <a:r>
              <a:rPr lang="tr-TR" dirty="0"/>
              <a:t> </a:t>
            </a:r>
            <a:r>
              <a:rPr lang="tr-TR" dirty="0" err="1"/>
              <a:t>Turkish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English.</a:t>
            </a:r>
            <a:endParaRPr dirty="0"/>
          </a:p>
        </p:txBody>
      </p:sp>
      <p:sp>
        <p:nvSpPr>
          <p:cNvPr id="343" name="Google Shape;343;p33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study</a:t>
            </a:r>
            <a:r>
              <a:rPr lang="tr-TR" dirty="0"/>
              <a:t> </a:t>
            </a:r>
            <a:r>
              <a:rPr lang="tr-TR" dirty="0" err="1"/>
              <a:t>offers</a:t>
            </a:r>
            <a:r>
              <a:rPr lang="tr-TR" dirty="0"/>
              <a:t> data-</a:t>
            </a:r>
            <a:r>
              <a:rPr lang="tr-TR" dirty="0" err="1"/>
              <a:t>driven</a:t>
            </a:r>
            <a:r>
              <a:rPr lang="tr-TR" dirty="0"/>
              <a:t> </a:t>
            </a:r>
            <a:r>
              <a:rPr lang="tr-TR" dirty="0" err="1"/>
              <a:t>insight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cinema</a:t>
            </a:r>
            <a:r>
              <a:rPr lang="tr-TR" dirty="0"/>
              <a:t> </a:t>
            </a:r>
            <a:r>
              <a:rPr lang="tr-TR" dirty="0" err="1"/>
              <a:t>industry</a:t>
            </a:r>
            <a:r>
              <a:rPr lang="tr-TR" dirty="0"/>
              <a:t>, </a:t>
            </a:r>
            <a:r>
              <a:rPr lang="tr-TR" dirty="0" err="1"/>
              <a:t>producers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cross-cultural</a:t>
            </a:r>
            <a:r>
              <a:rPr lang="tr-TR" dirty="0"/>
              <a:t> </a:t>
            </a:r>
            <a:r>
              <a:rPr lang="tr-TR" dirty="0" err="1"/>
              <a:t>media</a:t>
            </a:r>
            <a:r>
              <a:rPr lang="tr-TR" dirty="0"/>
              <a:t> </a:t>
            </a:r>
            <a:r>
              <a:rPr lang="tr-TR" dirty="0" err="1"/>
              <a:t>researchers</a:t>
            </a:r>
            <a:r>
              <a:rPr lang="tr-TR" dirty="0"/>
              <a:t>.</a:t>
            </a:r>
            <a:endParaRPr dirty="0"/>
          </a:p>
        </p:txBody>
      </p:sp>
      <p:sp>
        <p:nvSpPr>
          <p:cNvPr id="344" name="Google Shape;344;p33"/>
          <p:cNvSpPr txBox="1">
            <a:spLocks noGrp="1"/>
          </p:cNvSpPr>
          <p:nvPr>
            <p:ph type="subTitle" idx="3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integrate</a:t>
            </a:r>
            <a:r>
              <a:rPr lang="tr-TR" dirty="0"/>
              <a:t> </a:t>
            </a:r>
            <a:r>
              <a:rPr lang="tr-TR" dirty="0" err="1"/>
              <a:t>topic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sentiment</a:t>
            </a:r>
            <a:r>
              <a:rPr lang="tr-TR" dirty="0"/>
              <a:t> </a:t>
            </a:r>
            <a:r>
              <a:rPr lang="tr-TR" dirty="0" err="1"/>
              <a:t>modeling</a:t>
            </a:r>
            <a:r>
              <a:rPr lang="tr-TR" dirty="0"/>
              <a:t> on a </a:t>
            </a:r>
            <a:r>
              <a:rPr lang="tr-TR" dirty="0" err="1"/>
              <a:t>balanced</a:t>
            </a:r>
            <a:r>
              <a:rPr lang="tr-TR" dirty="0"/>
              <a:t> set of TR-EN </a:t>
            </a:r>
            <a:r>
              <a:rPr lang="tr-TR" dirty="0" err="1"/>
              <a:t>reviews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5 </a:t>
            </a:r>
            <a:r>
              <a:rPr lang="tr-TR" dirty="0" err="1"/>
              <a:t>platforms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statistically</a:t>
            </a:r>
            <a:r>
              <a:rPr lang="tr-TR" dirty="0"/>
              <a:t> </a:t>
            </a:r>
            <a:r>
              <a:rPr lang="tr-TR" dirty="0" err="1"/>
              <a:t>validate</a:t>
            </a:r>
            <a:r>
              <a:rPr lang="tr-TR" dirty="0"/>
              <a:t> </a:t>
            </a:r>
            <a:r>
              <a:rPr lang="tr-TR" dirty="0" err="1"/>
              <a:t>their</a:t>
            </a:r>
            <a:r>
              <a:rPr lang="tr-TR" dirty="0"/>
              <a:t> </a:t>
            </a:r>
            <a:r>
              <a:rPr lang="tr-TR" dirty="0" err="1"/>
              <a:t>relationship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a </a:t>
            </a:r>
            <a:r>
              <a:rPr lang="tr-TR" dirty="0" err="1"/>
              <a:t>Chi-square</a:t>
            </a:r>
            <a:r>
              <a:rPr lang="tr-TR" dirty="0"/>
              <a:t> test.</a:t>
            </a:r>
            <a:endParaRPr dirty="0"/>
          </a:p>
        </p:txBody>
      </p:sp>
      <p:sp>
        <p:nvSpPr>
          <p:cNvPr id="345" name="Google Shape;345;p33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the problem?</a:t>
            </a:r>
            <a:endParaRPr dirty="0"/>
          </a:p>
        </p:txBody>
      </p:sp>
      <p:sp>
        <p:nvSpPr>
          <p:cNvPr id="346" name="Google Shape;346;p33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Who</a:t>
            </a:r>
            <a:r>
              <a:rPr lang="tr-TR" dirty="0"/>
              <a:t> is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?</a:t>
            </a:r>
            <a:endParaRPr dirty="0"/>
          </a:p>
        </p:txBody>
      </p:sp>
      <p:sp>
        <p:nvSpPr>
          <p:cNvPr id="347" name="Google Shape;347;p33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our contribution?</a:t>
            </a:r>
            <a:endParaRPr dirty="0"/>
          </a:p>
        </p:txBody>
      </p:sp>
      <p:sp>
        <p:nvSpPr>
          <p:cNvPr id="348" name="Google Shape;348;p3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Research Questions</a:t>
            </a:r>
          </a:p>
        </p:txBody>
      </p:sp>
      <p:sp>
        <p:nvSpPr>
          <p:cNvPr id="448" name="Google Shape;448;p41"/>
          <p:cNvSpPr txBox="1">
            <a:spLocks noGrp="1"/>
          </p:cNvSpPr>
          <p:nvPr>
            <p:ph type="subTitle" idx="1"/>
          </p:nvPr>
        </p:nvSpPr>
        <p:spPr>
          <a:xfrm>
            <a:off x="1381625" y="1712483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Do TR and EN viewers focus on different topics within the same film?</a:t>
            </a:r>
            <a:endParaRPr dirty="0"/>
          </a:p>
        </p:txBody>
      </p:sp>
      <p:sp>
        <p:nvSpPr>
          <p:cNvPr id="449" name="Google Shape;449;p41"/>
          <p:cNvSpPr txBox="1">
            <a:spLocks noGrp="1"/>
          </p:cNvSpPr>
          <p:nvPr>
            <p:ph type="subTitle" idx="2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Is there a difference in the sentiment distribution between TR and EN reviews?</a:t>
            </a:r>
            <a:endParaRPr dirty="0"/>
          </a:p>
        </p:txBody>
      </p:sp>
      <p:sp>
        <p:nvSpPr>
          <p:cNvPr id="450" name="Google Shape;450;p41"/>
          <p:cNvSpPr txBox="1">
            <a:spLocks noGrp="1"/>
          </p:cNvSpPr>
          <p:nvPr>
            <p:ph type="subTitle" idx="3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Are topic and sentiment statistically independent from each other?</a:t>
            </a:r>
            <a:endParaRPr dirty="0"/>
          </a:p>
        </p:txBody>
      </p:sp>
      <p:sp>
        <p:nvSpPr>
          <p:cNvPr id="451" name="Google Shape;451;p41"/>
          <p:cNvSpPr/>
          <p:nvPr/>
        </p:nvSpPr>
        <p:spPr>
          <a:xfrm>
            <a:off x="720000" y="1340462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sz="21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2" name="Google Shape;452;p41"/>
          <p:cNvSpPr/>
          <p:nvPr/>
        </p:nvSpPr>
        <p:spPr>
          <a:xfrm>
            <a:off x="720001" y="2478864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endParaRPr sz="21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3" name="Google Shape;453;p41"/>
          <p:cNvSpPr/>
          <p:nvPr/>
        </p:nvSpPr>
        <p:spPr>
          <a:xfrm>
            <a:off x="719999" y="3617286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3</a:t>
            </a:r>
            <a:endParaRPr sz="21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4" name="Google Shape;454;p41"/>
          <p:cNvSpPr txBox="1">
            <a:spLocks noGrp="1"/>
          </p:cNvSpPr>
          <p:nvPr>
            <p:ph type="subTitle" idx="4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Topic Focus</a:t>
            </a:r>
            <a:endParaRPr dirty="0"/>
          </a:p>
        </p:txBody>
      </p:sp>
      <p:sp>
        <p:nvSpPr>
          <p:cNvPr id="455" name="Google Shape;455;p41"/>
          <p:cNvSpPr txBox="1">
            <a:spLocks noGrp="1"/>
          </p:cNvSpPr>
          <p:nvPr>
            <p:ph type="subTitle" idx="5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Sentiment Distribution</a:t>
            </a:r>
            <a:endParaRPr dirty="0"/>
          </a:p>
        </p:txBody>
      </p:sp>
      <p:sp>
        <p:nvSpPr>
          <p:cNvPr id="456" name="Google Shape;456;p41"/>
          <p:cNvSpPr txBox="1">
            <a:spLocks noGrp="1"/>
          </p:cNvSpPr>
          <p:nvPr>
            <p:ph type="subTitle" idx="6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Topic x Sentiment Relationship</a:t>
            </a:r>
            <a:endParaRPr dirty="0"/>
          </a:p>
        </p:txBody>
      </p:sp>
      <p:sp>
        <p:nvSpPr>
          <p:cNvPr id="457" name="Google Shape;457;p4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553" name="Google Shape;553;p47"/>
          <p:cNvSpPr txBox="1"/>
          <p:nvPr/>
        </p:nvSpPr>
        <p:spPr>
          <a:xfrm>
            <a:off x="3607930" y="1062956"/>
            <a:ext cx="4816068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English and Turkish reviews of IMDb Top 250 films were collected from five different platforms.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54" name="Google Shape;554;p47"/>
          <p:cNvSpPr txBox="1"/>
          <p:nvPr/>
        </p:nvSpPr>
        <p:spPr>
          <a:xfrm>
            <a:off x="3607929" y="1872733"/>
            <a:ext cx="4816069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Reviews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prepared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two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languages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balanced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per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film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55" name="Google Shape;555;p47"/>
          <p:cNvSpPr txBox="1"/>
          <p:nvPr/>
        </p:nvSpPr>
        <p:spPr>
          <a:xfrm>
            <a:off x="3604024" y="2568132"/>
            <a:ext cx="4823878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Reviews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clustered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into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meaningful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topics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using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multilingual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embeddings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56" name="Google Shape;556;p47"/>
          <p:cNvSpPr txBox="1"/>
          <p:nvPr/>
        </p:nvSpPr>
        <p:spPr>
          <a:xfrm>
            <a:off x="3600120" y="3247001"/>
            <a:ext cx="4823878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Each review was assigned a sentiment label using </a:t>
            </a:r>
            <a:r>
              <a:rPr lang="en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RoBERTa</a:t>
            </a:r>
            <a:r>
              <a:rPr lang="en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Qwen 2.5-7B.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562" name="Google Shape;562;p47"/>
          <p:cNvSpPr txBox="1"/>
          <p:nvPr/>
        </p:nvSpPr>
        <p:spPr>
          <a:xfrm>
            <a:off x="800542" y="1144666"/>
            <a:ext cx="1946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Data Collection</a:t>
            </a:r>
            <a:endParaRPr sz="18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63" name="Google Shape;563;p47"/>
          <p:cNvSpPr txBox="1"/>
          <p:nvPr/>
        </p:nvSpPr>
        <p:spPr>
          <a:xfrm>
            <a:off x="800542" y="1950141"/>
            <a:ext cx="1946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Preprocessing &amp; Balancing</a:t>
            </a:r>
            <a:endParaRPr sz="18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64" name="Google Shape;564;p47"/>
          <p:cNvSpPr txBox="1"/>
          <p:nvPr/>
        </p:nvSpPr>
        <p:spPr>
          <a:xfrm>
            <a:off x="800542" y="2636546"/>
            <a:ext cx="1946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err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BERTopic</a:t>
            </a:r>
            <a:endParaRPr sz="18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65" name="Google Shape;565;p47"/>
          <p:cNvSpPr txBox="1"/>
          <p:nvPr/>
        </p:nvSpPr>
        <p:spPr>
          <a:xfrm>
            <a:off x="800542" y="3325037"/>
            <a:ext cx="1946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Sentiment</a:t>
            </a:r>
            <a:endParaRPr sz="18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66" name="Google Shape;566;p4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cxnSp>
        <p:nvCxnSpPr>
          <p:cNvPr id="567" name="Google Shape;567;p47"/>
          <p:cNvCxnSpPr>
            <a:cxnSpLocks/>
            <a:stCxn id="562" idx="3"/>
            <a:endCxn id="553" idx="1"/>
          </p:cNvCxnSpPr>
          <p:nvPr/>
        </p:nvCxnSpPr>
        <p:spPr>
          <a:xfrm flipV="1">
            <a:off x="2746642" y="1421006"/>
            <a:ext cx="861288" cy="311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68" name="Google Shape;568;p47"/>
          <p:cNvCxnSpPr>
            <a:cxnSpLocks/>
            <a:stCxn id="563" idx="3"/>
            <a:endCxn id="554" idx="1"/>
          </p:cNvCxnSpPr>
          <p:nvPr/>
        </p:nvCxnSpPr>
        <p:spPr>
          <a:xfrm flipV="1">
            <a:off x="2746642" y="2226133"/>
            <a:ext cx="861287" cy="345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69" name="Google Shape;569;p47"/>
          <p:cNvCxnSpPr>
            <a:cxnSpLocks/>
            <a:stCxn id="564" idx="3"/>
            <a:endCxn id="555" idx="1"/>
          </p:cNvCxnSpPr>
          <p:nvPr/>
        </p:nvCxnSpPr>
        <p:spPr>
          <a:xfrm>
            <a:off x="2746642" y="2915996"/>
            <a:ext cx="857382" cy="208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70" name="Google Shape;570;p47"/>
          <p:cNvCxnSpPr>
            <a:cxnSpLocks/>
            <a:stCxn id="565" idx="3"/>
            <a:endCxn id="556" idx="1"/>
          </p:cNvCxnSpPr>
          <p:nvPr/>
        </p:nvCxnSpPr>
        <p:spPr>
          <a:xfrm>
            <a:off x="2746642" y="3604487"/>
            <a:ext cx="853478" cy="56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2" name="Google Shape;556;p47">
            <a:extLst>
              <a:ext uri="{FF2B5EF4-FFF2-40B4-BE49-F238E27FC236}">
                <a16:creationId xmlns:a16="http://schemas.microsoft.com/office/drawing/2014/main" id="{D97166FA-6F66-4F62-77EB-9E549C250C6F}"/>
              </a:ext>
            </a:extLst>
          </p:cNvPr>
          <p:cNvSpPr txBox="1"/>
          <p:nvPr/>
        </p:nvSpPr>
        <p:spPr>
          <a:xfrm>
            <a:off x="3607930" y="3933406"/>
            <a:ext cx="4816068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significance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of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topic-sentiment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relationship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was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tested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statistically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3" name="Google Shape;565;p47">
            <a:extLst>
              <a:ext uri="{FF2B5EF4-FFF2-40B4-BE49-F238E27FC236}">
                <a16:creationId xmlns:a16="http://schemas.microsoft.com/office/drawing/2014/main" id="{96A06C82-567B-CC65-5A5C-848848E70BA4}"/>
              </a:ext>
            </a:extLst>
          </p:cNvPr>
          <p:cNvSpPr txBox="1"/>
          <p:nvPr/>
        </p:nvSpPr>
        <p:spPr>
          <a:xfrm>
            <a:off x="800542" y="4013977"/>
            <a:ext cx="1946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Chi-square</a:t>
            </a:r>
            <a:endParaRPr sz="18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14" name="Google Shape;570;p47">
            <a:extLst>
              <a:ext uri="{FF2B5EF4-FFF2-40B4-BE49-F238E27FC236}">
                <a16:creationId xmlns:a16="http://schemas.microsoft.com/office/drawing/2014/main" id="{B28077C3-7D9A-8F08-6815-FB52ECDC5F72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V="1">
            <a:off x="2746642" y="4291456"/>
            <a:ext cx="861288" cy="197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DEC72356-12E9-3E27-0043-ECBA5EA8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A4BD07E6-3FFB-1AB9-E99B-3A1193B19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66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Collection</a:t>
            </a:r>
            <a:endParaRPr dirty="0"/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EE28A10B-5940-A94B-3E0A-61676BF410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4" name="Google Shape;369;p36">
            <a:extLst>
              <a:ext uri="{FF2B5EF4-FFF2-40B4-BE49-F238E27FC236}">
                <a16:creationId xmlns:a16="http://schemas.microsoft.com/office/drawing/2014/main" id="{D7777EDA-0A65-D675-9592-F82D2D155B4F}"/>
              </a:ext>
            </a:extLst>
          </p:cNvPr>
          <p:cNvSpPr txBox="1">
            <a:spLocks/>
          </p:cNvSpPr>
          <p:nvPr/>
        </p:nvSpPr>
        <p:spPr>
          <a:xfrm>
            <a:off x="2223600" y="2237600"/>
            <a:ext cx="46968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Google Shape;369;p36">
            <a:extLst>
              <a:ext uri="{FF2B5EF4-FFF2-40B4-BE49-F238E27FC236}">
                <a16:creationId xmlns:a16="http://schemas.microsoft.com/office/drawing/2014/main" id="{B0AF3B36-D63A-56C1-41C6-E96D356E3221}"/>
              </a:ext>
            </a:extLst>
          </p:cNvPr>
          <p:cNvSpPr txBox="1">
            <a:spLocks/>
          </p:cNvSpPr>
          <p:nvPr/>
        </p:nvSpPr>
        <p:spPr>
          <a:xfrm>
            <a:off x="3494616" y="2023250"/>
            <a:ext cx="2154768" cy="4287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ulish"/>
              <a:buNone/>
              <a:defRPr sz="21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ulish"/>
              <a:buNone/>
              <a:defRPr sz="21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dirty="0"/>
              <a:t>Platforms</a:t>
            </a:r>
          </a:p>
        </p:txBody>
      </p:sp>
      <p:sp>
        <p:nvSpPr>
          <p:cNvPr id="6" name="Google Shape;369;p36">
            <a:extLst>
              <a:ext uri="{FF2B5EF4-FFF2-40B4-BE49-F238E27FC236}">
                <a16:creationId xmlns:a16="http://schemas.microsoft.com/office/drawing/2014/main" id="{C3BD3F9F-7834-814B-CB86-8D0E63E881DA}"/>
              </a:ext>
            </a:extLst>
          </p:cNvPr>
          <p:cNvSpPr txBox="1">
            <a:spLocks/>
          </p:cNvSpPr>
          <p:nvPr/>
        </p:nvSpPr>
        <p:spPr>
          <a:xfrm>
            <a:off x="1777649" y="2584150"/>
            <a:ext cx="1716967" cy="4287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ulish"/>
              <a:buNone/>
              <a:defRPr sz="21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ulish"/>
              <a:buNone/>
              <a:defRPr sz="21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dirty="0"/>
              <a:t>English</a:t>
            </a:r>
          </a:p>
        </p:txBody>
      </p:sp>
      <p:sp>
        <p:nvSpPr>
          <p:cNvPr id="7" name="Google Shape;369;p36">
            <a:extLst>
              <a:ext uri="{FF2B5EF4-FFF2-40B4-BE49-F238E27FC236}">
                <a16:creationId xmlns:a16="http://schemas.microsoft.com/office/drawing/2014/main" id="{BA056D96-EE1C-8146-D86C-1157456BA7DC}"/>
              </a:ext>
            </a:extLst>
          </p:cNvPr>
          <p:cNvSpPr txBox="1">
            <a:spLocks/>
          </p:cNvSpPr>
          <p:nvPr/>
        </p:nvSpPr>
        <p:spPr>
          <a:xfrm>
            <a:off x="5664015" y="2584150"/>
            <a:ext cx="1716967" cy="4287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ulish"/>
              <a:buNone/>
              <a:defRPr sz="21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ulish"/>
              <a:buNone/>
              <a:defRPr sz="21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dirty="0"/>
              <a:t>Turkish</a:t>
            </a:r>
          </a:p>
        </p:txBody>
      </p:sp>
      <p:sp>
        <p:nvSpPr>
          <p:cNvPr id="11" name="Google Shape;553;p47">
            <a:extLst>
              <a:ext uri="{FF2B5EF4-FFF2-40B4-BE49-F238E27FC236}">
                <a16:creationId xmlns:a16="http://schemas.microsoft.com/office/drawing/2014/main" id="{D61D70C7-03A6-FE03-E149-59F433DFE9CB}"/>
              </a:ext>
            </a:extLst>
          </p:cNvPr>
          <p:cNvSpPr txBox="1"/>
          <p:nvPr/>
        </p:nvSpPr>
        <p:spPr>
          <a:xfrm>
            <a:off x="5894092" y="3150996"/>
            <a:ext cx="1256812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Beyaz Perde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Sinemalar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Ekşi Sözlük</a:t>
            </a:r>
          </a:p>
        </p:txBody>
      </p:sp>
      <p:sp>
        <p:nvSpPr>
          <p:cNvPr id="15" name="Google Shape;553;p47">
            <a:extLst>
              <a:ext uri="{FF2B5EF4-FFF2-40B4-BE49-F238E27FC236}">
                <a16:creationId xmlns:a16="http://schemas.microsoft.com/office/drawing/2014/main" id="{D2F3F66B-A538-0334-8E19-B045F65DEF17}"/>
              </a:ext>
            </a:extLst>
          </p:cNvPr>
          <p:cNvSpPr txBox="1"/>
          <p:nvPr/>
        </p:nvSpPr>
        <p:spPr>
          <a:xfrm>
            <a:off x="2045553" y="3012850"/>
            <a:ext cx="1181158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IMDb</a:t>
            </a:r>
            <a:endParaRPr lang="tr-TR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Letterboxd</a:t>
            </a:r>
            <a:endParaRPr lang="tr-TR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6" name="Google Shape;553;p47">
            <a:extLst>
              <a:ext uri="{FF2B5EF4-FFF2-40B4-BE49-F238E27FC236}">
                <a16:creationId xmlns:a16="http://schemas.microsoft.com/office/drawing/2014/main" id="{9077E970-B6E4-BF47-D434-6D3C27C10459}"/>
              </a:ext>
            </a:extLst>
          </p:cNvPr>
          <p:cNvSpPr txBox="1"/>
          <p:nvPr/>
        </p:nvSpPr>
        <p:spPr>
          <a:xfrm>
            <a:off x="719999" y="1174950"/>
            <a:ext cx="7772737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 total of 578.991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reviews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collected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across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250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films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from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relevant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platforms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using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Selenium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BeautifulSoup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8585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81F7769B-DFFD-6DD9-1B5A-C4EA6038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640C1E86-51EB-43CC-DA7D-396BDE81B9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6" name="Google Shape;553;p47">
            <a:extLst>
              <a:ext uri="{FF2B5EF4-FFF2-40B4-BE49-F238E27FC236}">
                <a16:creationId xmlns:a16="http://schemas.microsoft.com/office/drawing/2014/main" id="{7E89F1FE-9732-BBC9-5FF9-EE0DAB410907}"/>
              </a:ext>
            </a:extLst>
          </p:cNvPr>
          <p:cNvSpPr txBox="1"/>
          <p:nvPr/>
        </p:nvSpPr>
        <p:spPr>
          <a:xfrm>
            <a:off x="685631" y="1180254"/>
            <a:ext cx="7772737" cy="89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Noise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removal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stopword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elimination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lemmatization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applied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for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both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languages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using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NLTK.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This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produced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raw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data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for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sentiment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models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cleaned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data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for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topic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model.</a:t>
            </a:r>
          </a:p>
        </p:txBody>
      </p:sp>
      <p:sp>
        <p:nvSpPr>
          <p:cNvPr id="3" name="Google Shape;553;p47">
            <a:extLst>
              <a:ext uri="{FF2B5EF4-FFF2-40B4-BE49-F238E27FC236}">
                <a16:creationId xmlns:a16="http://schemas.microsoft.com/office/drawing/2014/main" id="{F73DC80F-D2DB-1931-E8DF-B1AB0BC83880}"/>
              </a:ext>
            </a:extLst>
          </p:cNvPr>
          <p:cNvSpPr txBox="1"/>
          <p:nvPr/>
        </p:nvSpPr>
        <p:spPr>
          <a:xfrm>
            <a:off x="685630" y="2113190"/>
            <a:ext cx="7772737" cy="8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prevent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language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imbalance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number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of TR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EN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reviews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was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equalized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for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each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film. </a:t>
            </a:r>
          </a:p>
        </p:txBody>
      </p:sp>
      <p:sp>
        <p:nvSpPr>
          <p:cNvPr id="8" name="Google Shape;553;p47">
            <a:extLst>
              <a:ext uri="{FF2B5EF4-FFF2-40B4-BE49-F238E27FC236}">
                <a16:creationId xmlns:a16="http://schemas.microsoft.com/office/drawing/2014/main" id="{20202754-6867-8E92-E5B7-4D169B1FF95D}"/>
              </a:ext>
            </a:extLst>
          </p:cNvPr>
          <p:cNvSpPr txBox="1"/>
          <p:nvPr/>
        </p:nvSpPr>
        <p:spPr>
          <a:xfrm>
            <a:off x="716514" y="3078874"/>
            <a:ext cx="2865240" cy="741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As a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result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built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language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balanced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dataset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of 382.977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reviews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from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229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films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A519EA-D7FE-3BAF-97DC-3C47C9C10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627751"/>
              </p:ext>
            </p:extLst>
          </p:nvPr>
        </p:nvGraphicFramePr>
        <p:xfrm>
          <a:off x="4571998" y="2834790"/>
          <a:ext cx="3018641" cy="1828800"/>
        </p:xfrm>
        <a:graphic>
          <a:graphicData uri="http://schemas.openxmlformats.org/drawingml/2006/table">
            <a:tbl>
              <a:tblPr firstRow="1" bandRow="1">
                <a:tableStyleId>{D4BF0CEC-4A96-480C-80B0-DC7B7F095D64}</a:tableStyleId>
              </a:tblPr>
              <a:tblGrid>
                <a:gridCol w="1248093">
                  <a:extLst>
                    <a:ext uri="{9D8B030D-6E8A-4147-A177-3AD203B41FA5}">
                      <a16:colId xmlns:a16="http://schemas.microsoft.com/office/drawing/2014/main" val="2024340761"/>
                    </a:ext>
                  </a:extLst>
                </a:gridCol>
                <a:gridCol w="1770548">
                  <a:extLst>
                    <a:ext uri="{9D8B030D-6E8A-4147-A177-3AD203B41FA5}">
                      <a16:colId xmlns:a16="http://schemas.microsoft.com/office/drawing/2014/main" val="1579985327"/>
                    </a:ext>
                  </a:extLst>
                </a:gridCol>
              </a:tblGrid>
              <a:tr h="271943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# of reviews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256863"/>
                  </a:ext>
                </a:extLst>
              </a:tr>
              <a:tr h="271943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Letterboxd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99.251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812155"/>
                  </a:ext>
                </a:extLst>
              </a:tr>
              <a:tr h="271943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IMDb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92.311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874724"/>
                  </a:ext>
                </a:extLst>
              </a:tr>
              <a:tr h="271943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Sinemalar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89.476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987980"/>
                  </a:ext>
                </a:extLst>
              </a:tr>
              <a:tr h="271943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Ekşi Sözlük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82.119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750328"/>
                  </a:ext>
                </a:extLst>
              </a:tr>
              <a:tr h="271943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Beyaz Perde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19.820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002334"/>
                  </a:ext>
                </a:extLst>
              </a:tr>
            </a:tbl>
          </a:graphicData>
        </a:graphic>
      </p:graphicFrame>
      <p:sp>
        <p:nvSpPr>
          <p:cNvPr id="2" name="Google Shape;548;p47">
            <a:extLst>
              <a:ext uri="{FF2B5EF4-FFF2-40B4-BE49-F238E27FC236}">
                <a16:creationId xmlns:a16="http://schemas.microsoft.com/office/drawing/2014/main" id="{2F903711-C947-C0BB-AF79-DA8FBCE45A16}"/>
              </a:ext>
            </a:extLst>
          </p:cNvPr>
          <p:cNvSpPr txBox="1">
            <a:spLocks/>
          </p:cNvSpPr>
          <p:nvPr/>
        </p:nvSpPr>
        <p:spPr>
          <a:xfrm>
            <a:off x="716514" y="49635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en-US" dirty="0"/>
              <a:t>Preprocessing &amp; Balancing</a:t>
            </a:r>
          </a:p>
        </p:txBody>
      </p:sp>
    </p:spTree>
    <p:extLst>
      <p:ext uri="{BB962C8B-B14F-4D97-AF65-F5344CB8AC3E}">
        <p14:creationId xmlns:p14="http://schemas.microsoft.com/office/powerpoint/2010/main" val="733178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9598CF9A-8A68-5B04-128A-323C6A6FF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E2C94B87-AD29-CCDD-B8C7-E5A533DA36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0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BERTopic</a:t>
            </a:r>
            <a:endParaRPr dirty="0"/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4914EB04-9269-BB61-B071-2ABCC3495C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" name="Google Shape;553;p47">
            <a:extLst>
              <a:ext uri="{FF2B5EF4-FFF2-40B4-BE49-F238E27FC236}">
                <a16:creationId xmlns:a16="http://schemas.microsoft.com/office/drawing/2014/main" id="{699A396F-A376-D630-4E40-964B71F0A2F3}"/>
              </a:ext>
            </a:extLst>
          </p:cNvPr>
          <p:cNvSpPr txBox="1"/>
          <p:nvPr/>
        </p:nvSpPr>
        <p:spPr>
          <a:xfrm>
            <a:off x="685631" y="1157802"/>
            <a:ext cx="7772737" cy="1256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In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first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step,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each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review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is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converted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into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vector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using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multilingual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«paraphrase-multilingual-MiniLM-L12-v2»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embedding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model.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high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dimensional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vectors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reduced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with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UMAP,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density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based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HDBSCAN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algorithm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clusters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reviews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into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topics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Finally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c-TF-IDF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extracts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distinctive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keywords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of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each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cluster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</a:t>
            </a:r>
          </a:p>
        </p:txBody>
      </p:sp>
      <p:sp>
        <p:nvSpPr>
          <p:cNvPr id="4" name="Google Shape;553;p47">
            <a:extLst>
              <a:ext uri="{FF2B5EF4-FFF2-40B4-BE49-F238E27FC236}">
                <a16:creationId xmlns:a16="http://schemas.microsoft.com/office/drawing/2014/main" id="{DD5190F4-ACF9-09F2-8C21-71E48C7D6D2E}"/>
              </a:ext>
            </a:extLst>
          </p:cNvPr>
          <p:cNvSpPr txBox="1"/>
          <p:nvPr/>
        </p:nvSpPr>
        <p:spPr>
          <a:xfrm>
            <a:off x="685630" y="2358862"/>
            <a:ext cx="7772737" cy="2074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first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clustering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produced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239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small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overlapping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topics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Instead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of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discarding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outlier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topic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losing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data,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these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merged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into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semantically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similar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clusters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based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on c-TF-IDF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similarity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reducing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total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80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topics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Each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topic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was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manually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naming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by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examining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both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its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keywords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representative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reviews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topics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grouped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into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five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categories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: 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Genre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related</a:t>
            </a:r>
            <a:endParaRPr lang="tr-TR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Social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/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Cultural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Themes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Cast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/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Cinematography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/ Technical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Elemens</a:t>
            </a:r>
            <a:endParaRPr lang="tr-TR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Audience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Experience</a:t>
            </a:r>
            <a:endParaRPr lang="tr-TR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Psychological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Themes</a:t>
            </a:r>
            <a:endParaRPr lang="tr-TR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  <p:extLst>
      <p:ext uri="{BB962C8B-B14F-4D97-AF65-F5344CB8AC3E}">
        <p14:creationId xmlns:p14="http://schemas.microsoft.com/office/powerpoint/2010/main" val="1307096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ED853BF8-5133-CFB8-5321-080B37F9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8132B860-EC0A-9A1C-3E31-5263434412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0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BERTopic</a:t>
            </a:r>
            <a:endParaRPr dirty="0"/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EE3044BA-1A5C-DA77-A3DC-29AEF06CF3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A08EC4-55C8-753E-09DE-A09BABB66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445772"/>
              </p:ext>
            </p:extLst>
          </p:nvPr>
        </p:nvGraphicFramePr>
        <p:xfrm>
          <a:off x="720001" y="1332923"/>
          <a:ext cx="7704000" cy="2344411"/>
        </p:xfrm>
        <a:graphic>
          <a:graphicData uri="http://schemas.openxmlformats.org/drawingml/2006/table">
            <a:tbl>
              <a:tblPr firstRow="1" bandRow="1">
                <a:tableStyleId>{D4BF0CEC-4A96-480C-80B0-DC7B7F095D64}</a:tableStyleId>
              </a:tblPr>
              <a:tblGrid>
                <a:gridCol w="2231191">
                  <a:extLst>
                    <a:ext uri="{9D8B030D-6E8A-4147-A177-3AD203B41FA5}">
                      <a16:colId xmlns:a16="http://schemas.microsoft.com/office/drawing/2014/main" val="3306518983"/>
                    </a:ext>
                  </a:extLst>
                </a:gridCol>
                <a:gridCol w="2231191">
                  <a:extLst>
                    <a:ext uri="{9D8B030D-6E8A-4147-A177-3AD203B41FA5}">
                      <a16:colId xmlns:a16="http://schemas.microsoft.com/office/drawing/2014/main" val="2070836988"/>
                    </a:ext>
                  </a:extLst>
                </a:gridCol>
                <a:gridCol w="3241618">
                  <a:extLst>
                    <a:ext uri="{9D8B030D-6E8A-4147-A177-3AD203B41FA5}">
                      <a16:colId xmlns:a16="http://schemas.microsoft.com/office/drawing/2014/main" val="3340171301"/>
                    </a:ext>
                  </a:extLst>
                </a:gridCol>
              </a:tblGrid>
              <a:tr h="349912">
                <a:tc>
                  <a:txBody>
                    <a:bodyPr/>
                    <a:lstStyle/>
                    <a:p>
                      <a:r>
                        <a:rPr lang="en-TR" dirty="0"/>
                        <a:t>Bileşen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Parametre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Değer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91646"/>
                  </a:ext>
                </a:extLst>
              </a:tr>
              <a:tr h="594851">
                <a:tc>
                  <a:txBody>
                    <a:bodyPr/>
                    <a:lstStyle/>
                    <a:p>
                      <a:r>
                        <a:rPr lang="en-TR" dirty="0"/>
                        <a:t>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  <a:r>
                        <a:rPr lang="en-TR" dirty="0"/>
                        <a:t>araphrase-multilingual-MiniLM-L12-v2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636822"/>
                  </a:ext>
                </a:extLst>
              </a:tr>
              <a:tr h="349912">
                <a:tc>
                  <a:txBody>
                    <a:bodyPr/>
                    <a:lstStyle/>
                    <a:p>
                      <a:r>
                        <a:rPr lang="en-TR" dirty="0"/>
                        <a:t>UMAP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n_neighbors</a:t>
                      </a:r>
                      <a:endParaRPr lang="en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386965"/>
                  </a:ext>
                </a:extLst>
              </a:tr>
              <a:tr h="349912">
                <a:tc>
                  <a:txBody>
                    <a:bodyPr/>
                    <a:lstStyle/>
                    <a:p>
                      <a:endParaRPr lang="en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TR" dirty="0"/>
                        <a:t>_components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951100"/>
                  </a:ext>
                </a:extLst>
              </a:tr>
              <a:tr h="349912">
                <a:tc>
                  <a:txBody>
                    <a:bodyPr/>
                    <a:lstStyle/>
                    <a:p>
                      <a:r>
                        <a:rPr lang="en-TR" dirty="0"/>
                        <a:t>HDBSCAN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  <a:r>
                        <a:rPr lang="en-TR" dirty="0"/>
                        <a:t>in_cluster_size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684666"/>
                  </a:ext>
                </a:extLst>
              </a:tr>
              <a:tr h="349912">
                <a:tc>
                  <a:txBody>
                    <a:bodyPr/>
                    <a:lstStyle/>
                    <a:p>
                      <a:r>
                        <a:rPr lang="en-TR" dirty="0"/>
                        <a:t>c-TF-IDF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TR" dirty="0"/>
                        <a:t>gram_range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(1,2)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707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57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6A3AC54D-9BD1-132F-EABD-78E740AA4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4A8F6D5F-6591-40B0-22D5-A10F41804C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0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Sentiment</a:t>
            </a:r>
            <a:r>
              <a:rPr lang="tr-TR" dirty="0"/>
              <a:t>: </a:t>
            </a:r>
            <a:r>
              <a:rPr lang="tr-TR" dirty="0" err="1"/>
              <a:t>Dataset</a:t>
            </a:r>
            <a:endParaRPr lang="tr-TR" dirty="0"/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1A05E0AA-05FE-B4FD-A571-909C777FB4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3" name="Google Shape;553;p47">
            <a:extLst>
              <a:ext uri="{FF2B5EF4-FFF2-40B4-BE49-F238E27FC236}">
                <a16:creationId xmlns:a16="http://schemas.microsoft.com/office/drawing/2014/main" id="{8B11C9B1-EB0C-40B6-2BF8-F6598BDA60DC}"/>
              </a:ext>
            </a:extLst>
          </p:cNvPr>
          <p:cNvSpPr txBox="1"/>
          <p:nvPr/>
        </p:nvSpPr>
        <p:spPr>
          <a:xfrm>
            <a:off x="720000" y="1042750"/>
            <a:ext cx="8035805" cy="779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For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Turkish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TREMO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Winvoker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datasets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combined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For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English,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GoEmotions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dataset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was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used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2C0F38-046F-B021-7C9E-128D9742B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031787"/>
              </p:ext>
            </p:extLst>
          </p:nvPr>
        </p:nvGraphicFramePr>
        <p:xfrm>
          <a:off x="1379275" y="1636155"/>
          <a:ext cx="6096000" cy="2966720"/>
        </p:xfrm>
        <a:graphic>
          <a:graphicData uri="http://schemas.openxmlformats.org/drawingml/2006/table">
            <a:tbl>
              <a:tblPr firstRow="1" bandRow="1">
                <a:tableStyleId>{D4BF0CEC-4A96-480C-80B0-DC7B7F095D64}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420486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935031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42400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Emotion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Turkish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96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Anger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1.500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2.000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753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Disgust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1.500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TR" dirty="0"/>
                        <a:t>2.000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0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Fear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1.500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2.000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731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Happiness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1.500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2.000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422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1.500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2.000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714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Sadness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1.500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2.000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780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9.000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12.000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261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159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6A3AC54D-9BD1-132F-EABD-78E740AA4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4A8F6D5F-6591-40B0-22D5-A10F41804C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0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Sentiment: Models - RoBERTa</a:t>
            </a:r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1A05E0AA-05FE-B4FD-A571-909C777FB4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3" name="Google Shape;553;p47">
            <a:extLst>
              <a:ext uri="{FF2B5EF4-FFF2-40B4-BE49-F238E27FC236}">
                <a16:creationId xmlns:a16="http://schemas.microsoft.com/office/drawing/2014/main" id="{8B11C9B1-EB0C-40B6-2BF8-F6598BDA60DC}"/>
              </a:ext>
            </a:extLst>
          </p:cNvPr>
          <p:cNvSpPr txBox="1"/>
          <p:nvPr/>
        </p:nvSpPr>
        <p:spPr>
          <a:xfrm>
            <a:off x="720000" y="961966"/>
            <a:ext cx="3640460" cy="352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roberta-base</a:t>
            </a:r>
          </a:p>
          <a:p>
            <a:pPr>
              <a:lnSpc>
                <a:spcPct val="200000"/>
              </a:lnSpc>
            </a:pPr>
            <a:endParaRPr lang="tr-TR" sz="3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Transformers based encoder-only (All at once)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Bidirectional (Both left and right words)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Upgraded version of BERT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125 million parameters</a:t>
            </a:r>
          </a:p>
          <a:p>
            <a:pPr>
              <a:lnSpc>
                <a:spcPct val="200000"/>
              </a:lnSpc>
            </a:pPr>
            <a:endParaRPr lang="tr-TR" sz="1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>
              <a:lnSpc>
                <a:spcPct val="200000"/>
              </a:lnSpc>
            </a:pPr>
            <a:endParaRPr lang="tr-TR" sz="1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Pretrained </a:t>
            </a:r>
            <a:r>
              <a:rPr lang="tr-TR" sz="1200" dirty="0">
                <a:solidFill>
                  <a:schemeClr val="dk1"/>
                </a:solidFill>
                <a:latin typeface="Mulish"/>
                <a:sym typeface="Mulish"/>
              </a:rPr>
              <a:t>with </a:t>
            </a:r>
            <a:r>
              <a:rPr lang="tr-TR" sz="1200" dirty="0">
                <a:solidFill>
                  <a:schemeClr val="dk1"/>
                </a:solidFill>
                <a:latin typeface="Mulish"/>
              </a:rPr>
              <a:t>Wikipedia + BookCorpus + CC-News + OpenWebText + Stories (160GB total).</a:t>
            </a:r>
          </a:p>
          <a:p>
            <a:pPr>
              <a:lnSpc>
                <a:spcPct val="150000"/>
              </a:lnSpc>
            </a:pPr>
            <a:endParaRPr lang="tr-TR" sz="200" dirty="0">
              <a:solidFill>
                <a:schemeClr val="dk1"/>
              </a:solidFill>
              <a:latin typeface="Mulish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sym typeface="Mulish"/>
              </a:rPr>
              <a:t>Created by </a:t>
            </a:r>
            <a:r>
              <a:rPr lang="tr-TR" sz="1200" dirty="0">
                <a:solidFill>
                  <a:schemeClr val="dk1"/>
                </a:solidFill>
                <a:latin typeface="Mulish"/>
              </a:rPr>
              <a:t>Meta AI and researchers from the University of Washington in 2019</a:t>
            </a:r>
            <a:endParaRPr lang="tr-TR" sz="1200" dirty="0">
              <a:solidFill>
                <a:schemeClr val="dk1"/>
              </a:solidFill>
              <a:latin typeface="Mulish"/>
              <a:sym typeface="Mulish"/>
            </a:endParaRPr>
          </a:p>
        </p:txBody>
      </p:sp>
      <p:sp>
        <p:nvSpPr>
          <p:cNvPr id="2" name="Google Shape;553;p47">
            <a:extLst>
              <a:ext uri="{FF2B5EF4-FFF2-40B4-BE49-F238E27FC236}">
                <a16:creationId xmlns:a16="http://schemas.microsoft.com/office/drawing/2014/main" id="{64AE0784-AF44-58F4-A2EC-ECDC28A2D419}"/>
              </a:ext>
            </a:extLst>
          </p:cNvPr>
          <p:cNvSpPr txBox="1"/>
          <p:nvPr/>
        </p:nvSpPr>
        <p:spPr>
          <a:xfrm>
            <a:off x="5226034" y="994782"/>
            <a:ext cx="2746531" cy="50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roberta-base-turkish</a:t>
            </a:r>
          </a:p>
        </p:txBody>
      </p:sp>
      <p:sp>
        <p:nvSpPr>
          <p:cNvPr id="7" name="Google Shape;553;p47">
            <a:extLst>
              <a:ext uri="{FF2B5EF4-FFF2-40B4-BE49-F238E27FC236}">
                <a16:creationId xmlns:a16="http://schemas.microsoft.com/office/drawing/2014/main" id="{694BDB59-2265-FB99-5FBE-3AE464B3CF14}"/>
              </a:ext>
            </a:extLst>
          </p:cNvPr>
          <p:cNvSpPr txBox="1"/>
          <p:nvPr/>
        </p:nvSpPr>
        <p:spPr>
          <a:xfrm>
            <a:off x="5226034" y="1898176"/>
            <a:ext cx="2746531" cy="1849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Same structure as roberta-base</a:t>
            </a:r>
          </a:p>
          <a:p>
            <a:pPr>
              <a:lnSpc>
                <a:spcPct val="200000"/>
              </a:lnSpc>
            </a:pPr>
            <a:endParaRPr lang="tr-TR" sz="1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sym typeface="Mulish"/>
              </a:rPr>
              <a:t>Trained with </a:t>
            </a:r>
            <a:r>
              <a:rPr lang="tr-TR" sz="1200" dirty="0">
                <a:solidFill>
                  <a:schemeClr val="dk1"/>
                </a:solidFill>
                <a:latin typeface="Mulish"/>
              </a:rPr>
              <a:t>Turkish Wikipedia, Turkish OSCAR, and some news websites (38 GB texts and 329 million sentences)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sym typeface="Mulish"/>
              </a:rPr>
              <a:t>Created by Burak Aytan at Turkcell in 2022</a:t>
            </a:r>
          </a:p>
        </p:txBody>
      </p:sp>
    </p:spTree>
    <p:extLst>
      <p:ext uri="{BB962C8B-B14F-4D97-AF65-F5344CB8AC3E}">
        <p14:creationId xmlns:p14="http://schemas.microsoft.com/office/powerpoint/2010/main" val="1411984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258C7B15-A2C6-8655-D792-30FD7136C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B1C25908-D630-D02C-F68A-02B05FF0AF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0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Sentiment: Models – Qwen 2.5-7B</a:t>
            </a:r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6F92F4F4-D124-8202-B581-AA25992F0B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3" name="Google Shape;553;p47">
            <a:extLst>
              <a:ext uri="{FF2B5EF4-FFF2-40B4-BE49-F238E27FC236}">
                <a16:creationId xmlns:a16="http://schemas.microsoft.com/office/drawing/2014/main" id="{E60A6A06-3D9F-61AB-D66E-E515D84A0D41}"/>
              </a:ext>
            </a:extLst>
          </p:cNvPr>
          <p:cNvSpPr txBox="1"/>
          <p:nvPr/>
        </p:nvSpPr>
        <p:spPr>
          <a:xfrm>
            <a:off x="720000" y="1144907"/>
            <a:ext cx="3681403" cy="299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Large language model (Ability to generate text, billions of parameters, larger datasets)</a:t>
            </a:r>
          </a:p>
          <a:p>
            <a:pPr>
              <a:lnSpc>
                <a:spcPct val="150000"/>
              </a:lnSpc>
            </a:pPr>
            <a:endParaRPr lang="tr-TR" sz="1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Transformers based decoder-only (Left to right text generating)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Created by AliBaba Cloud in September 2024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7 billion parameters (7B)</a:t>
            </a:r>
          </a:p>
          <a:p>
            <a:pPr>
              <a:lnSpc>
                <a:spcPct val="200000"/>
              </a:lnSpc>
            </a:pPr>
            <a:endParaRPr lang="tr-TR" sz="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Supports 20 different language including Turkish and English</a:t>
            </a:r>
          </a:p>
        </p:txBody>
      </p:sp>
      <p:pic>
        <p:nvPicPr>
          <p:cNvPr id="2" name="Picture 1" descr="qwen2.5:7b">
            <a:extLst>
              <a:ext uri="{FF2B5EF4-FFF2-40B4-BE49-F238E27FC236}">
                <a16:creationId xmlns:a16="http://schemas.microsoft.com/office/drawing/2014/main" id="{3C6DAB59-7503-2F86-1599-5D9FA39CD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739" y="1539650"/>
            <a:ext cx="2941273" cy="1032100"/>
          </a:xfrm>
          <a:prstGeom prst="rect">
            <a:avLst/>
          </a:prstGeom>
        </p:spPr>
      </p:pic>
      <p:pic>
        <p:nvPicPr>
          <p:cNvPr id="5" name="Picture 4" descr="Alibaba Cloud - Chinafy Official Technology Partner">
            <a:extLst>
              <a:ext uri="{FF2B5EF4-FFF2-40B4-BE49-F238E27FC236}">
                <a16:creationId xmlns:a16="http://schemas.microsoft.com/office/drawing/2014/main" id="{EB5B9812-BB33-1036-2AFB-FAAB9E952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568" y="2634238"/>
            <a:ext cx="2683019" cy="104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99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7518A479-DE40-7279-E6A7-8CD370F63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8754F4C8-4D53-7D47-07C5-B4589C6FD8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0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Sentiment</a:t>
            </a:r>
            <a:r>
              <a:rPr lang="tr-TR" dirty="0"/>
              <a:t>: </a:t>
            </a:r>
            <a:r>
              <a:rPr lang="tr-TR" dirty="0" err="1"/>
              <a:t>RoBERTA</a:t>
            </a:r>
            <a:endParaRPr lang="tr-TR" dirty="0"/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6211CEDA-7B94-C424-9FCC-2674AF4623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 dirty="0"/>
          </a:p>
        </p:txBody>
      </p:sp>
      <p:sp>
        <p:nvSpPr>
          <p:cNvPr id="3" name="Google Shape;553;p47">
            <a:extLst>
              <a:ext uri="{FF2B5EF4-FFF2-40B4-BE49-F238E27FC236}">
                <a16:creationId xmlns:a16="http://schemas.microsoft.com/office/drawing/2014/main" id="{AD7B07CA-6C64-5C66-F437-75872E9E130B}"/>
              </a:ext>
            </a:extLst>
          </p:cNvPr>
          <p:cNvSpPr txBox="1"/>
          <p:nvPr/>
        </p:nvSpPr>
        <p:spPr>
          <a:xfrm>
            <a:off x="685631" y="1042750"/>
            <a:ext cx="8035805" cy="194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For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RoBERTa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models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used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roberta-base-turkish-uncased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for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Turkish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roberta-base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for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English.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Both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models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fine-tuned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using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AdamW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optimizer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with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learning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rate of 2e-5, a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batch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size of 16,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and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3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epochs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124B5E-BAA6-5691-A977-8F1D539D6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254822"/>
              </p:ext>
            </p:extLst>
          </p:nvPr>
        </p:nvGraphicFramePr>
        <p:xfrm>
          <a:off x="720000" y="2736941"/>
          <a:ext cx="6096000" cy="1112520"/>
        </p:xfrm>
        <a:graphic>
          <a:graphicData uri="http://schemas.openxmlformats.org/drawingml/2006/table">
            <a:tbl>
              <a:tblPr firstRow="1" bandRow="1">
                <a:tableStyleId>{D4BF0CEC-4A96-480C-80B0-DC7B7F095D64}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758967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273380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0247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F1 (macro)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93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RoBERTa 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0.919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0.919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68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RoBERTa 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0.780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0.774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101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627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953692C7-B6BF-84A6-5358-96A2916E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875AF63F-6480-6201-5425-B87B31E1C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0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Sentiment</a:t>
            </a:r>
            <a:r>
              <a:rPr lang="tr-TR" dirty="0"/>
              <a:t>: </a:t>
            </a:r>
            <a:r>
              <a:rPr lang="tr-TR" dirty="0" err="1"/>
              <a:t>RoBERTA</a:t>
            </a:r>
            <a:endParaRPr lang="tr-TR" dirty="0"/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99F9EE7A-61A9-C190-3415-6A97A4C518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423B3F-3F24-19D7-E04E-850E29CD5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32" y="1207917"/>
            <a:ext cx="4019744" cy="33229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49AEB2-B242-1CBF-80CB-42F6F7E78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444" y="1207916"/>
            <a:ext cx="3994276" cy="330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12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4ECEA23E-8772-88D1-4CE4-996D59507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B2114376-113F-9E2B-AE86-9B59C5ACCD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0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Sentiment</a:t>
            </a:r>
            <a:r>
              <a:rPr lang="tr-TR" dirty="0"/>
              <a:t>: </a:t>
            </a:r>
            <a:r>
              <a:rPr lang="tr-TR" dirty="0" err="1"/>
              <a:t>Qwen</a:t>
            </a:r>
            <a:r>
              <a:rPr lang="tr-TR" dirty="0"/>
              <a:t> 2.5-7B </a:t>
            </a:r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D2085905-3CE2-5ACD-F731-63D857DF63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3" name="Google Shape;553;p47">
            <a:extLst>
              <a:ext uri="{FF2B5EF4-FFF2-40B4-BE49-F238E27FC236}">
                <a16:creationId xmlns:a16="http://schemas.microsoft.com/office/drawing/2014/main" id="{F450E4D5-7809-51D8-8980-0143B79DEEF2}"/>
              </a:ext>
            </a:extLst>
          </p:cNvPr>
          <p:cNvSpPr txBox="1"/>
          <p:nvPr/>
        </p:nvSpPr>
        <p:spPr>
          <a:xfrm>
            <a:off x="685631" y="1042750"/>
            <a:ext cx="8035805" cy="1943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adapted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Qwen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2.5-7B-Instruct model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sentiment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classifcation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task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Because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of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memory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constraints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used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QLoRA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a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parameter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efficient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method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The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parameters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as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follows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: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Quantization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: 4-bit NF4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Compute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dtype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: bfloat16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LoRA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rank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: 16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LoRA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alpha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: 32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Learning rate: 2e-4</a:t>
            </a:r>
            <a:endParaRPr lang="tr-TR" sz="1200" baseline="300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Epoch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: 3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583D98-6BE4-9A5F-FE6C-48AEFFC5B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947542"/>
              </p:ext>
            </p:extLst>
          </p:nvPr>
        </p:nvGraphicFramePr>
        <p:xfrm>
          <a:off x="713888" y="3125068"/>
          <a:ext cx="6096000" cy="1112520"/>
        </p:xfrm>
        <a:graphic>
          <a:graphicData uri="http://schemas.openxmlformats.org/drawingml/2006/table">
            <a:tbl>
              <a:tblPr firstRow="1" bandRow="1">
                <a:tableStyleId>{D4BF0CEC-4A96-480C-80B0-DC7B7F095D64}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758967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273380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0247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F1 (macro)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938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Qwen 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0.941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0.941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68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Qwen 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0.763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0.761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101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653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6488DFD2-7D5C-81CC-EEC3-8EAA05BE4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2587D03C-FBA4-9D7A-8A9E-C1AAC5F620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0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Sentiment</a:t>
            </a:r>
            <a:r>
              <a:rPr lang="tr-TR" dirty="0"/>
              <a:t>: </a:t>
            </a:r>
            <a:r>
              <a:rPr lang="tr-TR" dirty="0" err="1"/>
              <a:t>Qwen</a:t>
            </a:r>
            <a:r>
              <a:rPr lang="tr-TR" dirty="0"/>
              <a:t> 2.5-7B </a:t>
            </a:r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1DE6A51D-D62B-20D2-90FD-804419F355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4580A4-5343-0F50-438C-07B2F4B7F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58" y="1088234"/>
            <a:ext cx="4029617" cy="3331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831C0E-0BE7-CF49-734F-D4326319E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039" y="1088234"/>
            <a:ext cx="4029618" cy="33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56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03B7E40F-BEA2-8A40-513F-E5720DDAB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>
            <a:extLst>
              <a:ext uri="{FF2B5EF4-FFF2-40B4-BE49-F238E27FC236}">
                <a16:creationId xmlns:a16="http://schemas.microsoft.com/office/drawing/2014/main" id="{91CAFAC5-4D2C-5589-0609-9006847947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</a:t>
            </a:r>
            <a:endParaRPr dirty="0"/>
          </a:p>
        </p:txBody>
      </p:sp>
      <p:sp>
        <p:nvSpPr>
          <p:cNvPr id="448" name="Google Shape;448;p41">
            <a:extLst>
              <a:ext uri="{FF2B5EF4-FFF2-40B4-BE49-F238E27FC236}">
                <a16:creationId xmlns:a16="http://schemas.microsoft.com/office/drawing/2014/main" id="{9C08ED21-B853-307A-3D24-9F5CAE1157C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Comparison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sentiment</a:t>
            </a:r>
            <a:r>
              <a:rPr lang="tr-TR" dirty="0"/>
              <a:t> </a:t>
            </a:r>
            <a:r>
              <a:rPr lang="tr-TR" dirty="0" err="1"/>
              <a:t>profiles</a:t>
            </a:r>
            <a:r>
              <a:rPr lang="tr-TR" dirty="0"/>
              <a:t> of TR </a:t>
            </a:r>
            <a:r>
              <a:rPr lang="tr-TR" dirty="0" err="1"/>
              <a:t>and</a:t>
            </a:r>
            <a:r>
              <a:rPr lang="tr-TR" dirty="0"/>
              <a:t> EN </a:t>
            </a:r>
            <a:r>
              <a:rPr lang="tr-TR" dirty="0" err="1"/>
              <a:t>reviews</a:t>
            </a:r>
            <a:r>
              <a:rPr lang="tr-TR" dirty="0"/>
              <a:t>.</a:t>
            </a:r>
            <a:endParaRPr dirty="0"/>
          </a:p>
        </p:txBody>
      </p:sp>
      <p:sp>
        <p:nvSpPr>
          <p:cNvPr id="449" name="Google Shape;449;p41">
            <a:extLst>
              <a:ext uri="{FF2B5EF4-FFF2-40B4-BE49-F238E27FC236}">
                <a16:creationId xmlns:a16="http://schemas.microsoft.com/office/drawing/2014/main" id="{1331D2D6-AE32-4455-5706-013BAECD40C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Measuring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sentiment</a:t>
            </a:r>
            <a:r>
              <a:rPr lang="tr-TR" dirty="0"/>
              <a:t> </a:t>
            </a:r>
            <a:r>
              <a:rPr lang="tr-TR" dirty="0" err="1"/>
              <a:t>difference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TR </a:t>
            </a:r>
            <a:r>
              <a:rPr lang="tr-TR" dirty="0" err="1"/>
              <a:t>and</a:t>
            </a:r>
            <a:r>
              <a:rPr lang="tr-TR" dirty="0"/>
              <a:t> EN </a:t>
            </a:r>
            <a:r>
              <a:rPr lang="tr-TR" dirty="0" err="1"/>
              <a:t>within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same</a:t>
            </a:r>
            <a:r>
              <a:rPr lang="tr-TR" dirty="0"/>
              <a:t> </a:t>
            </a:r>
            <a:r>
              <a:rPr lang="tr-TR" dirty="0" err="1"/>
              <a:t>topic</a:t>
            </a:r>
            <a:r>
              <a:rPr lang="tr-TR" dirty="0"/>
              <a:t>.</a:t>
            </a:r>
            <a:endParaRPr dirty="0"/>
          </a:p>
        </p:txBody>
      </p:sp>
      <p:sp>
        <p:nvSpPr>
          <p:cNvPr id="450" name="Google Shape;450;p41">
            <a:extLst>
              <a:ext uri="{FF2B5EF4-FFF2-40B4-BE49-F238E27FC236}">
                <a16:creationId xmlns:a16="http://schemas.microsoft.com/office/drawing/2014/main" id="{FBA368BE-A1C0-A022-1B46-F30A20B019E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Statistical </a:t>
            </a:r>
            <a:r>
              <a:rPr lang="tr-TR" dirty="0" err="1"/>
              <a:t>validation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relationship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topic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sentiment</a:t>
            </a:r>
            <a:r>
              <a:rPr lang="tr-TR" dirty="0"/>
              <a:t>.</a:t>
            </a:r>
            <a:endParaRPr dirty="0"/>
          </a:p>
        </p:txBody>
      </p:sp>
      <p:sp>
        <p:nvSpPr>
          <p:cNvPr id="451" name="Google Shape;451;p41">
            <a:extLst>
              <a:ext uri="{FF2B5EF4-FFF2-40B4-BE49-F238E27FC236}">
                <a16:creationId xmlns:a16="http://schemas.microsoft.com/office/drawing/2014/main" id="{A4517042-F23C-CF21-4D8E-A40C82AAC968}"/>
              </a:ext>
            </a:extLst>
          </p:cNvPr>
          <p:cNvSpPr/>
          <p:nvPr/>
        </p:nvSpPr>
        <p:spPr>
          <a:xfrm>
            <a:off x="720000" y="1340462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sz="21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2" name="Google Shape;452;p41">
            <a:extLst>
              <a:ext uri="{FF2B5EF4-FFF2-40B4-BE49-F238E27FC236}">
                <a16:creationId xmlns:a16="http://schemas.microsoft.com/office/drawing/2014/main" id="{BCB1CC97-627F-24D5-1D07-BEE84E1211D1}"/>
              </a:ext>
            </a:extLst>
          </p:cNvPr>
          <p:cNvSpPr/>
          <p:nvPr/>
        </p:nvSpPr>
        <p:spPr>
          <a:xfrm>
            <a:off x="720001" y="2478864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endParaRPr sz="21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3" name="Google Shape;453;p41">
            <a:extLst>
              <a:ext uri="{FF2B5EF4-FFF2-40B4-BE49-F238E27FC236}">
                <a16:creationId xmlns:a16="http://schemas.microsoft.com/office/drawing/2014/main" id="{35E68612-6690-E3CA-DB75-6D2EFDBD5853}"/>
              </a:ext>
            </a:extLst>
          </p:cNvPr>
          <p:cNvSpPr/>
          <p:nvPr/>
        </p:nvSpPr>
        <p:spPr>
          <a:xfrm>
            <a:off x="719999" y="3617286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3</a:t>
            </a:r>
            <a:endParaRPr sz="21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4" name="Google Shape;454;p41">
            <a:extLst>
              <a:ext uri="{FF2B5EF4-FFF2-40B4-BE49-F238E27FC236}">
                <a16:creationId xmlns:a16="http://schemas.microsoft.com/office/drawing/2014/main" id="{782C1AC5-9DD8-DB7B-F5DF-3B52FC8AB5A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Overall</a:t>
            </a:r>
            <a:r>
              <a:rPr lang="tr-TR" dirty="0"/>
              <a:t> </a:t>
            </a:r>
            <a:r>
              <a:rPr lang="tr-TR" dirty="0" err="1"/>
              <a:t>Sentiment</a:t>
            </a:r>
            <a:r>
              <a:rPr lang="tr-TR" dirty="0"/>
              <a:t> Distribution &amp; </a:t>
            </a:r>
            <a:r>
              <a:rPr lang="tr-TR" dirty="0" err="1"/>
              <a:t>Topics</a:t>
            </a:r>
            <a:endParaRPr dirty="0"/>
          </a:p>
        </p:txBody>
      </p:sp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00259001-C792-3856-C973-120D0289F0DE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Topic x Sentiment Profile</a:t>
            </a:r>
            <a:endParaRPr dirty="0"/>
          </a:p>
        </p:txBody>
      </p:sp>
      <p:sp>
        <p:nvSpPr>
          <p:cNvPr id="456" name="Google Shape;456;p41">
            <a:extLst>
              <a:ext uri="{FF2B5EF4-FFF2-40B4-BE49-F238E27FC236}">
                <a16:creationId xmlns:a16="http://schemas.microsoft.com/office/drawing/2014/main" id="{BA9E55F0-4C02-E16F-553B-6CF0ACE5E080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Chi-square Result</a:t>
            </a:r>
            <a:endParaRPr dirty="0"/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3C966C04-C85D-00AF-2971-B2748B886D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7236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56227BC5-6ED2-A821-160D-DBBE38B30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>
            <a:extLst>
              <a:ext uri="{FF2B5EF4-FFF2-40B4-BE49-F238E27FC236}">
                <a16:creationId xmlns:a16="http://schemas.microsoft.com/office/drawing/2014/main" id="{EFFB6115-C144-2220-58A8-FA5F7F78A4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Analysis - 1</a:t>
            </a:r>
            <a:endParaRPr dirty="0"/>
          </a:p>
        </p:txBody>
      </p:sp>
      <p:sp>
        <p:nvSpPr>
          <p:cNvPr id="448" name="Google Shape;448;p41">
            <a:extLst>
              <a:ext uri="{FF2B5EF4-FFF2-40B4-BE49-F238E27FC236}">
                <a16:creationId xmlns:a16="http://schemas.microsoft.com/office/drawing/2014/main" id="{4C9F2E18-AF52-9252-2B59-D2FBE76BA4E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111342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In</a:t>
            </a:r>
            <a:r>
              <a:rPr lang="tr-TR" dirty="0"/>
              <a:t> </a:t>
            </a:r>
            <a:r>
              <a:rPr lang="tr-TR" dirty="0" err="1"/>
              <a:t>Turkish</a:t>
            </a:r>
            <a:r>
              <a:rPr lang="tr-TR" dirty="0"/>
              <a:t> </a:t>
            </a:r>
            <a:r>
              <a:rPr lang="tr-TR" dirty="0" err="1"/>
              <a:t>reviews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anger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happiness</a:t>
            </a:r>
            <a:r>
              <a:rPr lang="tr-TR" dirty="0"/>
              <a:t> </a:t>
            </a:r>
            <a:r>
              <a:rPr lang="tr-TR" dirty="0" err="1"/>
              <a:t>classes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a </a:t>
            </a:r>
            <a:r>
              <a:rPr lang="tr-TR" dirty="0" err="1"/>
              <a:t>higher</a:t>
            </a:r>
            <a:r>
              <a:rPr lang="tr-TR" dirty="0"/>
              <a:t> </a:t>
            </a:r>
            <a:r>
              <a:rPr lang="tr-TR" dirty="0" err="1"/>
              <a:t>share</a:t>
            </a:r>
            <a:r>
              <a:rPr lang="tr-TR" dirty="0"/>
              <a:t>. </a:t>
            </a:r>
            <a:r>
              <a:rPr lang="tr-TR" dirty="0" err="1"/>
              <a:t>In</a:t>
            </a:r>
            <a:r>
              <a:rPr lang="tr-TR" dirty="0"/>
              <a:t> English </a:t>
            </a:r>
            <a:r>
              <a:rPr lang="tr-TR" dirty="0" err="1"/>
              <a:t>reviews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neutral</a:t>
            </a:r>
            <a:r>
              <a:rPr lang="tr-TR" dirty="0"/>
              <a:t> </a:t>
            </a:r>
            <a:r>
              <a:rPr lang="tr-TR" dirty="0" err="1"/>
              <a:t>class</a:t>
            </a:r>
            <a:r>
              <a:rPr lang="tr-TR" dirty="0"/>
              <a:t> is dominant. </a:t>
            </a:r>
            <a:endParaRPr dirty="0"/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E8846482-0B2F-3152-ECC5-AB5296E99E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2D26E28-F272-A90C-4AFE-CC156E497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53799"/>
            <a:ext cx="7772400" cy="273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9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7BE08A45-0EDB-DF0E-881A-621E8ABAA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6CC0B70E-238F-532E-5846-F4CC9D546F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38845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Analysis - 1</a:t>
            </a:r>
            <a:endParaRPr dirty="0"/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CE2FB8BE-75F7-FC3C-D3DC-6F9265BEA3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363109-FCB1-8E4A-A308-F24208ACD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45" y="871494"/>
            <a:ext cx="7505688" cy="432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68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94B11160-2DFB-437A-AB3D-84C471A0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1E23ED75-146D-94A0-141B-7F7818EEA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0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Analysis - 1</a:t>
            </a:r>
            <a:endParaRPr dirty="0"/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D299AB64-17F9-FEB2-7EFE-D77EA6A5E7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A659B0-3546-F82F-2FAB-37D97B5A5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188417"/>
              </p:ext>
            </p:extLst>
          </p:nvPr>
        </p:nvGraphicFramePr>
        <p:xfrm>
          <a:off x="720000" y="1459230"/>
          <a:ext cx="6739255" cy="2225040"/>
        </p:xfrm>
        <a:graphic>
          <a:graphicData uri="http://schemas.openxmlformats.org/drawingml/2006/table">
            <a:tbl>
              <a:tblPr firstRow="1" bandRow="1">
                <a:tableStyleId>{D4BF0CEC-4A96-480C-80B0-DC7B7F095D64}</a:tableStyleId>
              </a:tblPr>
              <a:tblGrid>
                <a:gridCol w="3691255">
                  <a:extLst>
                    <a:ext uri="{9D8B030D-6E8A-4147-A177-3AD203B41FA5}">
                      <a16:colId xmlns:a16="http://schemas.microsoft.com/office/drawing/2014/main" val="130254617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27939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Topic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979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Genre Related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634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Social / Cultural Themes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6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Cast / Cinematography / Technical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247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Audience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967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Psychological Themes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82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017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C1807703-68CA-971F-0C6C-E227BA96B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>
            <a:extLst>
              <a:ext uri="{FF2B5EF4-FFF2-40B4-BE49-F238E27FC236}">
                <a16:creationId xmlns:a16="http://schemas.microsoft.com/office/drawing/2014/main" id="{834A82A3-AC79-D382-A861-083EBCDA4D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70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Analysis - 1</a:t>
            </a:r>
            <a:endParaRPr lang="tr-TR" dirty="0"/>
          </a:p>
        </p:txBody>
      </p:sp>
      <p:sp>
        <p:nvSpPr>
          <p:cNvPr id="566" name="Google Shape;566;p47">
            <a:extLst>
              <a:ext uri="{FF2B5EF4-FFF2-40B4-BE49-F238E27FC236}">
                <a16:creationId xmlns:a16="http://schemas.microsoft.com/office/drawing/2014/main" id="{7D336C63-2F54-7DDE-2D9C-25C81B0321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3" name="Google Shape;553;p47">
            <a:extLst>
              <a:ext uri="{FF2B5EF4-FFF2-40B4-BE49-F238E27FC236}">
                <a16:creationId xmlns:a16="http://schemas.microsoft.com/office/drawing/2014/main" id="{C83A37E0-5566-C135-3F63-87B15CEE906F}"/>
              </a:ext>
            </a:extLst>
          </p:cNvPr>
          <p:cNvSpPr txBox="1"/>
          <p:nvPr/>
        </p:nvSpPr>
        <p:spPr>
          <a:xfrm>
            <a:off x="685631" y="1042750"/>
            <a:ext cx="8035805" cy="358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Topics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were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filtered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ensure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balanced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TR-EN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review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distribution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within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each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tr-TR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topic</a:t>
            </a:r>
            <a:r>
              <a:rPr lang="tr-T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91F84D-432C-274A-6E5E-0F9332019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194" y="1320784"/>
            <a:ext cx="5107488" cy="336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87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C33CC5EA-71DE-BC51-5F1C-190302EC1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>
            <a:extLst>
              <a:ext uri="{FF2B5EF4-FFF2-40B4-BE49-F238E27FC236}">
                <a16:creationId xmlns:a16="http://schemas.microsoft.com/office/drawing/2014/main" id="{EC1C4115-A482-1442-41A8-A1C3688BA3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Analysis - 2</a:t>
            </a:r>
            <a:endParaRPr dirty="0"/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6AAC6E7F-80AB-84E9-3944-BCBD1E78E0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E7767-BA29-A6ED-6F10-D9A53997D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61128"/>
            <a:ext cx="7772400" cy="309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7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EF78B4B0-822A-0E20-1D8A-64B9042F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>
            <a:extLst>
              <a:ext uri="{FF2B5EF4-FFF2-40B4-BE49-F238E27FC236}">
                <a16:creationId xmlns:a16="http://schemas.microsoft.com/office/drawing/2014/main" id="{D597612F-B174-0BFC-1503-701119B2AC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Analysis - 2</a:t>
            </a:r>
            <a:endParaRPr dirty="0"/>
          </a:p>
        </p:txBody>
      </p:sp>
      <p:sp>
        <p:nvSpPr>
          <p:cNvPr id="448" name="Google Shape;448;p41">
            <a:extLst>
              <a:ext uri="{FF2B5EF4-FFF2-40B4-BE49-F238E27FC236}">
                <a16:creationId xmlns:a16="http://schemas.microsoft.com/office/drawing/2014/main" id="{5CA2749F-A4D7-B232-8552-4CC0F3B7FA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3217" y="1116883"/>
            <a:ext cx="3598577" cy="3587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tr-T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tr-T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language</a:t>
            </a:r>
            <a:r>
              <a:rPr lang="tr-TR" dirty="0"/>
              <a:t> </a:t>
            </a:r>
            <a:r>
              <a:rPr lang="tr-TR" dirty="0" err="1"/>
              <a:t>difference</a:t>
            </a:r>
            <a:r>
              <a:rPr lang="tr-TR" dirty="0"/>
              <a:t> is not </a:t>
            </a:r>
            <a:r>
              <a:rPr lang="tr-TR" dirty="0" err="1"/>
              <a:t>constant</a:t>
            </a:r>
            <a:r>
              <a:rPr lang="tr-TR" dirty="0"/>
              <a:t>. </a:t>
            </a:r>
            <a:r>
              <a:rPr lang="tr-TR" dirty="0" err="1"/>
              <a:t>It</a:t>
            </a:r>
            <a:r>
              <a:rPr lang="tr-TR" dirty="0"/>
              <a:t> </a:t>
            </a:r>
            <a:r>
              <a:rPr lang="tr-TR" dirty="0" err="1"/>
              <a:t>shifts</a:t>
            </a:r>
            <a:r>
              <a:rPr lang="tr-TR" dirty="0"/>
              <a:t> </a:t>
            </a:r>
            <a:r>
              <a:rPr lang="tr-TR" dirty="0" err="1"/>
              <a:t>direction</a:t>
            </a:r>
            <a:r>
              <a:rPr lang="tr-TR" dirty="0"/>
              <a:t> </a:t>
            </a:r>
            <a:r>
              <a:rPr lang="tr-TR" dirty="0" err="1"/>
              <a:t>according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topic’s</a:t>
            </a:r>
            <a:r>
              <a:rPr lang="tr-TR" dirty="0"/>
              <a:t> </a:t>
            </a:r>
            <a:r>
              <a:rPr lang="tr-TR" dirty="0" err="1"/>
              <a:t>theme</a:t>
            </a:r>
            <a:endParaRPr lang="tr-TR" dirty="0"/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EDB1415C-F7DB-F8E1-4242-9BC2EC5B13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DC9002-87B9-ECF7-D947-0C3C9AEC3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794" y="263137"/>
            <a:ext cx="5058989" cy="451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892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3AE8361F-5CF7-5B5E-B9A0-28C5FBAD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>
            <a:extLst>
              <a:ext uri="{FF2B5EF4-FFF2-40B4-BE49-F238E27FC236}">
                <a16:creationId xmlns:a16="http://schemas.microsoft.com/office/drawing/2014/main" id="{1420F2A6-B948-EBBD-068B-CD12161C8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Analysis - 3</a:t>
            </a:r>
            <a:endParaRPr dirty="0"/>
          </a:p>
        </p:txBody>
      </p:sp>
      <p:sp>
        <p:nvSpPr>
          <p:cNvPr id="448" name="Google Shape;448;p41">
            <a:extLst>
              <a:ext uri="{FF2B5EF4-FFF2-40B4-BE49-F238E27FC236}">
                <a16:creationId xmlns:a16="http://schemas.microsoft.com/office/drawing/2014/main" id="{8A7763FC-4EFF-3CA3-3EF4-90F6F8BD627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9" y="1111342"/>
            <a:ext cx="833848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Chi</a:t>
            </a:r>
            <a:r>
              <a:rPr lang="tr-TR" dirty="0"/>
              <a:t> </a:t>
            </a:r>
            <a:r>
              <a:rPr lang="tr-TR" dirty="0" err="1"/>
              <a:t>square</a:t>
            </a:r>
            <a:r>
              <a:rPr lang="tr-TR" dirty="0"/>
              <a:t> test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performed</a:t>
            </a:r>
            <a:r>
              <a:rPr lang="tr-TR" dirty="0"/>
              <a:t> on 211.223 </a:t>
            </a:r>
            <a:r>
              <a:rPr lang="tr-TR" dirty="0" err="1"/>
              <a:t>reviews</a:t>
            </a:r>
            <a:r>
              <a:rPr lang="tr-TR" dirty="0"/>
              <a:t> </a:t>
            </a:r>
            <a:r>
              <a:rPr lang="tr-TR" dirty="0" err="1"/>
              <a:t>across</a:t>
            </a:r>
            <a:r>
              <a:rPr lang="tr-TR" dirty="0"/>
              <a:t> 23 </a:t>
            </a:r>
            <a:r>
              <a:rPr lang="tr-TR" dirty="0" err="1"/>
              <a:t>topics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6 </a:t>
            </a:r>
            <a:r>
              <a:rPr lang="tr-TR" dirty="0" err="1"/>
              <a:t>emotions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p- </a:t>
            </a:r>
            <a:r>
              <a:rPr lang="tr-TR" dirty="0" err="1"/>
              <a:t>value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below</a:t>
            </a:r>
            <a:r>
              <a:rPr lang="tr-TR" dirty="0"/>
              <a:t> 0,001 </a:t>
            </a:r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independence</a:t>
            </a:r>
            <a:r>
              <a:rPr lang="tr-TR" dirty="0"/>
              <a:t> </a:t>
            </a:r>
            <a:r>
              <a:rPr lang="tr-TR" dirty="0" err="1"/>
              <a:t>hypothesis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rejected</a:t>
            </a:r>
            <a:r>
              <a:rPr lang="tr-TR" dirty="0"/>
              <a:t>.</a:t>
            </a: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5CE5913E-207D-C6CA-B700-74B0E9A1F3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4094EF-4069-141E-247D-0EF66292E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036230"/>
              </p:ext>
            </p:extLst>
          </p:nvPr>
        </p:nvGraphicFramePr>
        <p:xfrm>
          <a:off x="719999" y="1836990"/>
          <a:ext cx="4595362" cy="2612936"/>
        </p:xfrm>
        <a:graphic>
          <a:graphicData uri="http://schemas.openxmlformats.org/drawingml/2006/table">
            <a:tbl>
              <a:tblPr firstRow="1" bandRow="1">
                <a:tableStyleId>{D4BF0CEC-4A96-480C-80B0-DC7B7F095D64}</a:tableStyleId>
              </a:tblPr>
              <a:tblGrid>
                <a:gridCol w="2297681">
                  <a:extLst>
                    <a:ext uri="{9D8B030D-6E8A-4147-A177-3AD203B41FA5}">
                      <a16:colId xmlns:a16="http://schemas.microsoft.com/office/drawing/2014/main" val="216932443"/>
                    </a:ext>
                  </a:extLst>
                </a:gridCol>
                <a:gridCol w="2297681">
                  <a:extLst>
                    <a:ext uri="{9D8B030D-6E8A-4147-A177-3AD203B41FA5}">
                      <a16:colId xmlns:a16="http://schemas.microsoft.com/office/drawing/2014/main" val="2713523314"/>
                    </a:ext>
                  </a:extLst>
                </a:gridCol>
              </a:tblGrid>
              <a:tr h="326617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371239"/>
                  </a:ext>
                </a:extLst>
              </a:tr>
              <a:tr h="326617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Contingency Table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23 x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81088"/>
                  </a:ext>
                </a:extLst>
              </a:tr>
              <a:tr h="326617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Total 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211.223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272948"/>
                  </a:ext>
                </a:extLst>
              </a:tr>
              <a:tr h="326617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X</a:t>
                      </a:r>
                      <a:r>
                        <a:rPr lang="en-TR" baseline="30000" dirty="0"/>
                        <a:t>2</a:t>
                      </a:r>
                      <a:endParaRPr lang="en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7.648,39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172831"/>
                  </a:ext>
                </a:extLst>
              </a:tr>
              <a:tr h="326617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83470"/>
                  </a:ext>
                </a:extLst>
              </a:tr>
              <a:tr h="3266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p-value</a:t>
                      </a:r>
                      <a:endParaRPr lang="en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&lt; 0,001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04512"/>
                  </a:ext>
                </a:extLst>
              </a:tr>
              <a:tr h="326617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Cramer’s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≈0,085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652744"/>
                  </a:ext>
                </a:extLst>
              </a:tr>
              <a:tr h="326617"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R" dirty="0"/>
                        <a:t>H</a:t>
                      </a:r>
                      <a:r>
                        <a:rPr lang="en-TR" baseline="-25000" dirty="0"/>
                        <a:t>0</a:t>
                      </a:r>
                      <a:r>
                        <a:rPr lang="en-TR" baseline="0" dirty="0"/>
                        <a:t> rejected</a:t>
                      </a:r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968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560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1224A05E-E658-8831-6290-00C49FB2D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>
            <a:extLst>
              <a:ext uri="{FF2B5EF4-FFF2-40B4-BE49-F238E27FC236}">
                <a16:creationId xmlns:a16="http://schemas.microsoft.com/office/drawing/2014/main" id="{2BA3FE26-8599-9CA4-58D0-18486EE4A4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</a:t>
            </a:r>
            <a:endParaRPr dirty="0"/>
          </a:p>
        </p:txBody>
      </p:sp>
      <p:sp>
        <p:nvSpPr>
          <p:cNvPr id="448" name="Google Shape;448;p41">
            <a:extLst>
              <a:ext uri="{FF2B5EF4-FFF2-40B4-BE49-F238E27FC236}">
                <a16:creationId xmlns:a16="http://schemas.microsoft.com/office/drawing/2014/main" id="{D3329AF5-7E57-D41E-AE44-0EA184B801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9" y="1111342"/>
            <a:ext cx="7904305" cy="27041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b="1" dirty="0"/>
              <a:t>Success: </a:t>
            </a:r>
            <a:r>
              <a:rPr lang="en-US" dirty="0"/>
              <a:t>What topics film viewers focus on the emotions related to those topics and the relationship between them were identified and statistically validated with a chi square test.</a:t>
            </a:r>
          </a:p>
          <a:p>
            <a:pPr marL="139700" indent="0"/>
            <a:endParaRPr lang="en-US" dirty="0"/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b="1" dirty="0"/>
              <a:t>Limitation: </a:t>
            </a:r>
            <a:r>
              <a:rPr lang="en-US" dirty="0"/>
              <a:t>Without a manually labeled movie review dataset, the models true </a:t>
            </a:r>
            <a:r>
              <a:rPr lang="en-US" dirty="0" err="1"/>
              <a:t>performans</a:t>
            </a:r>
            <a:r>
              <a:rPr lang="en-US" dirty="0"/>
              <a:t> could not be fully measured.</a:t>
            </a:r>
          </a:p>
          <a:p>
            <a:pPr marL="139700" indent="0"/>
            <a:endParaRPr lang="en-US" dirty="0"/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b="1" dirty="0"/>
              <a:t>Future works: </a:t>
            </a:r>
            <a:r>
              <a:rPr lang="en-US" dirty="0"/>
              <a:t>Domain specific fine-tuning with labeled movie reviews and automatic topic naming in </a:t>
            </a:r>
            <a:r>
              <a:rPr lang="en-US" dirty="0" err="1"/>
              <a:t>BERTopic</a:t>
            </a:r>
            <a:r>
              <a:rPr lang="en-US" dirty="0"/>
              <a:t> using an LLM.</a:t>
            </a: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F1CE034E-0D83-23E4-6F63-630708727D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9918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75A16D3F-EB23-0D71-B9E3-0474FA1B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>
            <a:extLst>
              <a:ext uri="{FF2B5EF4-FFF2-40B4-BE49-F238E27FC236}">
                <a16:creationId xmlns:a16="http://schemas.microsoft.com/office/drawing/2014/main" id="{BFED63B8-85C2-DD8B-10D6-2DA2F76DA6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309511"/>
            <a:ext cx="7704000" cy="12622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 for listening</a:t>
            </a:r>
            <a:br>
              <a:rPr lang="en" dirty="0"/>
            </a:br>
            <a:br>
              <a:rPr lang="en" dirty="0"/>
            </a:br>
            <a:r>
              <a:rPr lang="en" sz="2000" b="0" dirty="0"/>
              <a:t>Melih Yelman – 21011702</a:t>
            </a:r>
            <a:br>
              <a:rPr lang="en" sz="2000" b="0" dirty="0"/>
            </a:br>
            <a:r>
              <a:rPr lang="en" sz="2000" b="0" dirty="0"/>
              <a:t> Faruk Altun    – 22011055</a:t>
            </a:r>
            <a:br>
              <a:rPr lang="en" sz="2000" b="0" dirty="0"/>
            </a:br>
            <a:br>
              <a:rPr lang="en" sz="2000" b="0" dirty="0"/>
            </a:br>
            <a:r>
              <a:rPr lang="en" sz="2000" b="0" dirty="0"/>
              <a:t>Project Advisor: Asst. Prof. Ayşe Öcal</a:t>
            </a:r>
            <a:br>
              <a:rPr lang="en" b="0" dirty="0"/>
            </a:br>
            <a:endParaRPr dirty="0"/>
          </a:p>
        </p:txBody>
      </p:sp>
      <p:sp>
        <p:nvSpPr>
          <p:cNvPr id="324" name="Google Shape;324;p31">
            <a:extLst>
              <a:ext uri="{FF2B5EF4-FFF2-40B4-BE49-F238E27FC236}">
                <a16:creationId xmlns:a16="http://schemas.microsoft.com/office/drawing/2014/main" id="{207FACA8-1AAD-8BC3-415C-C9C2F958DB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879630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1164</Words>
  <Application>Microsoft Macintosh PowerPoint</Application>
  <PresentationFormat>On-screen Show (16:9)</PresentationFormat>
  <Paragraphs>257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Quicksand</vt:lpstr>
      <vt:lpstr>Mulish</vt:lpstr>
      <vt:lpstr>Bebas Neue</vt:lpstr>
      <vt:lpstr>Elegant Bachelor Thesis by Slidesgo</vt:lpstr>
      <vt:lpstr>TOPIC MODELING AND SENTIMENT ANALYSIS: ANALYZING CULTURAL DIFFERENCES IN MOVIE REVIEWS</vt:lpstr>
      <vt:lpstr>Table of contents</vt:lpstr>
      <vt:lpstr>Motivation</vt:lpstr>
      <vt:lpstr>Research Questions</vt:lpstr>
      <vt:lpstr>Methodology</vt:lpstr>
      <vt:lpstr>Data Collection</vt:lpstr>
      <vt:lpstr>PowerPoint Presentation</vt:lpstr>
      <vt:lpstr>BERTopic</vt:lpstr>
      <vt:lpstr>BERTopic</vt:lpstr>
      <vt:lpstr>Sentiment: Dataset</vt:lpstr>
      <vt:lpstr>Sentiment: Models - RoBERTa</vt:lpstr>
      <vt:lpstr>Sentiment: Models – Qwen 2.5-7B</vt:lpstr>
      <vt:lpstr>Sentiment: RoBERTA</vt:lpstr>
      <vt:lpstr>Sentiment: RoBERTA</vt:lpstr>
      <vt:lpstr>Sentiment: Qwen 2.5-7B </vt:lpstr>
      <vt:lpstr>Sentiment: Qwen 2.5-7B </vt:lpstr>
      <vt:lpstr>Analysis</vt:lpstr>
      <vt:lpstr>Analysis - 1</vt:lpstr>
      <vt:lpstr>Analysis - 1</vt:lpstr>
      <vt:lpstr>Analysis - 1</vt:lpstr>
      <vt:lpstr>Analysis - 1</vt:lpstr>
      <vt:lpstr>Analysis - 2</vt:lpstr>
      <vt:lpstr>Analysis - 2</vt:lpstr>
      <vt:lpstr>Analysis - 3</vt:lpstr>
      <vt:lpstr>Result</vt:lpstr>
      <vt:lpstr>Thanks for listening  Melih Yelman – 21011702  Faruk Altun    – 22011055  Project Advisor: Asst. Prof. Ayşe Öcal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Melih  Yelman</cp:lastModifiedBy>
  <cp:revision>27</cp:revision>
  <dcterms:modified xsi:type="dcterms:W3CDTF">2026-06-24T10:49:56Z</dcterms:modified>
</cp:coreProperties>
</file>